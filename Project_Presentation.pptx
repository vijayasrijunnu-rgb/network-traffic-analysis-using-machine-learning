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57" r:id="rId3"/>
    <p:sldId id="261" r:id="rId4"/>
    <p:sldId id="264" r:id="rId5"/>
    <p:sldId id="266" r:id="rId6"/>
    <p:sldId id="271" r:id="rId7"/>
    <p:sldId id="274" r:id="rId8"/>
    <p:sldId id="279" r:id="rId9"/>
    <p:sldId id="267" r:id="rId10"/>
    <p:sldId id="282" r:id="rId11"/>
    <p:sldId id="277" r:id="rId12"/>
    <p:sldId id="281" r:id="rId13"/>
    <p:sldId id="276" r:id="rId14"/>
    <p:sldId id="280" r:id="rId15"/>
    <p:sldId id="262"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81DF96-A9CC-4627-9732-05DEDBEF9288}">
          <p14:sldIdLst>
            <p14:sldId id="258"/>
            <p14:sldId id="257"/>
            <p14:sldId id="261"/>
            <p14:sldId id="264"/>
            <p14:sldId id="266"/>
            <p14:sldId id="271"/>
            <p14:sldId id="274"/>
            <p14:sldId id="279"/>
            <p14:sldId id="267"/>
            <p14:sldId id="282"/>
            <p14:sldId id="277"/>
            <p14:sldId id="281"/>
            <p14:sldId id="276"/>
            <p14:sldId id="280"/>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25" autoAdjust="0"/>
    <p:restoredTop sz="94660"/>
  </p:normalViewPr>
  <p:slideViewPr>
    <p:cSldViewPr snapToGrid="0">
      <p:cViewPr varScale="1">
        <p:scale>
          <a:sx n="32" d="100"/>
          <a:sy n="32" d="100"/>
        </p:scale>
        <p:origin x="676" y="36"/>
      </p:cViewPr>
      <p:guideLst/>
    </p:cSldViewPr>
  </p:slideViewPr>
  <p:notesTextViewPr>
    <p:cViewPr>
      <p:scale>
        <a:sx n="1" d="1"/>
        <a:sy n="1" d="1"/>
      </p:scale>
      <p:origin x="0" y="0"/>
    </p:cViewPr>
  </p:notesTextViewPr>
  <p:sorterViewPr>
    <p:cViewPr>
      <p:scale>
        <a:sx n="100" d="100"/>
        <a:sy n="100" d="100"/>
      </p:scale>
      <p:origin x="0" y="-586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4E3F75-D320-47E5-AB90-E141A58B500D}" type="datetimeFigureOut">
              <a:rPr lang="en-IN" smtClean="0"/>
              <a:t>09-06-2025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C467FE-CBFE-4347-A610-7F3595B83267}" type="slidenum">
              <a:rPr lang="en-IN" smtClean="0"/>
              <a:t>‹#›</a:t>
            </a:fld>
            <a:endParaRPr lang="en-IN"/>
          </a:p>
        </p:txBody>
      </p:sp>
    </p:spTree>
    <p:extLst>
      <p:ext uri="{BB962C8B-B14F-4D97-AF65-F5344CB8AC3E}">
        <p14:creationId xmlns:p14="http://schemas.microsoft.com/office/powerpoint/2010/main" val="1344617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4C467FE-CBFE-4347-A610-7F3595B83267}" type="slidenum">
              <a:rPr lang="en-IN" smtClean="0"/>
              <a:t>1</a:t>
            </a:fld>
            <a:endParaRPr lang="en-IN"/>
          </a:p>
        </p:txBody>
      </p:sp>
    </p:spTree>
    <p:extLst>
      <p:ext uri="{BB962C8B-B14F-4D97-AF65-F5344CB8AC3E}">
        <p14:creationId xmlns:p14="http://schemas.microsoft.com/office/powerpoint/2010/main" val="947052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4C467FE-CBFE-4347-A610-7F3595B83267}" type="slidenum">
              <a:rPr lang="en-IN" smtClean="0"/>
              <a:t>4</a:t>
            </a:fld>
            <a:endParaRPr lang="en-IN"/>
          </a:p>
        </p:txBody>
      </p:sp>
    </p:spTree>
    <p:extLst>
      <p:ext uri="{BB962C8B-B14F-4D97-AF65-F5344CB8AC3E}">
        <p14:creationId xmlns:p14="http://schemas.microsoft.com/office/powerpoint/2010/main" val="2631315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1891A-E7F7-BE9F-66A5-869B1604CD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7D5F62-3561-6C40-D5F6-B499539CF1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1B03E4-CF46-1D20-6B22-DFFC0428211B}"/>
              </a:ext>
            </a:extLst>
          </p:cNvPr>
          <p:cNvSpPr>
            <a:spLocks noGrp="1"/>
          </p:cNvSpPr>
          <p:nvPr>
            <p:ph type="dt" sz="half" idx="10"/>
          </p:nvPr>
        </p:nvSpPr>
        <p:spPr/>
        <p:txBody>
          <a:bodyPr/>
          <a:lstStyle/>
          <a:p>
            <a:fld id="{C5847F1E-0B38-4A8A-87BE-B707B2F3938D}" type="datetime1">
              <a:rPr lang="en-IN" smtClean="0"/>
              <a:t>09-06-2025</a:t>
            </a:fld>
            <a:endParaRPr lang="en-IN"/>
          </a:p>
        </p:txBody>
      </p:sp>
      <p:sp>
        <p:nvSpPr>
          <p:cNvPr id="5" name="Footer Placeholder 4">
            <a:extLst>
              <a:ext uri="{FF2B5EF4-FFF2-40B4-BE49-F238E27FC236}">
                <a16:creationId xmlns:a16="http://schemas.microsoft.com/office/drawing/2014/main" id="{D3751A8C-80F5-EF16-5DEA-050D8BFD5C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232095-AC46-BE41-3357-CCE8DE65CDB7}"/>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4247651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977BE-4AD2-00EC-636A-5DF672DDE6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8A9D26-DDFF-31D4-7BC3-2234E6FAE0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B575C7-A10F-6AA2-B6A9-79395C281B2A}"/>
              </a:ext>
            </a:extLst>
          </p:cNvPr>
          <p:cNvSpPr>
            <a:spLocks noGrp="1"/>
          </p:cNvSpPr>
          <p:nvPr>
            <p:ph type="dt" sz="half" idx="10"/>
          </p:nvPr>
        </p:nvSpPr>
        <p:spPr/>
        <p:txBody>
          <a:bodyPr/>
          <a:lstStyle/>
          <a:p>
            <a:fld id="{796E0384-4232-44F5-9641-02840E5EEBC6}" type="datetime1">
              <a:rPr lang="en-IN" smtClean="0"/>
              <a:t>09-06-2025</a:t>
            </a:fld>
            <a:endParaRPr lang="en-IN"/>
          </a:p>
        </p:txBody>
      </p:sp>
      <p:sp>
        <p:nvSpPr>
          <p:cNvPr id="5" name="Footer Placeholder 4">
            <a:extLst>
              <a:ext uri="{FF2B5EF4-FFF2-40B4-BE49-F238E27FC236}">
                <a16:creationId xmlns:a16="http://schemas.microsoft.com/office/drawing/2014/main" id="{5F4C2450-1E0A-BECB-46CF-C8734DE9D4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58E8DC-A47A-1519-874F-1705CC9F5F93}"/>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2472930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3490F-E486-9D94-92BA-6BFBCF9B06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6D261B-1DF4-C1D3-8213-D52D0047DB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8F3E0-A58A-A091-ED9A-417FC332786A}"/>
              </a:ext>
            </a:extLst>
          </p:cNvPr>
          <p:cNvSpPr>
            <a:spLocks noGrp="1"/>
          </p:cNvSpPr>
          <p:nvPr>
            <p:ph type="dt" sz="half" idx="10"/>
          </p:nvPr>
        </p:nvSpPr>
        <p:spPr/>
        <p:txBody>
          <a:bodyPr/>
          <a:lstStyle/>
          <a:p>
            <a:fld id="{45B85289-627C-4FE5-80B9-274229CBF26A}" type="datetime1">
              <a:rPr lang="en-IN" smtClean="0"/>
              <a:t>09-06-2025</a:t>
            </a:fld>
            <a:endParaRPr lang="en-IN"/>
          </a:p>
        </p:txBody>
      </p:sp>
      <p:sp>
        <p:nvSpPr>
          <p:cNvPr id="5" name="Footer Placeholder 4">
            <a:extLst>
              <a:ext uri="{FF2B5EF4-FFF2-40B4-BE49-F238E27FC236}">
                <a16:creationId xmlns:a16="http://schemas.microsoft.com/office/drawing/2014/main" id="{10C3B418-E62C-B5D7-BC30-29AFA7F889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1133B5-3E69-9547-83CB-23DDB6D98813}"/>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3179954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DF7BC-1BE2-9B57-6592-8438D71778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201735-B1CF-1D6B-29AC-AB1F9107C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3C151B-0685-224F-E584-D10684B537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7C7524-3EAC-90A7-E5A8-DA0CAAA725A8}"/>
              </a:ext>
            </a:extLst>
          </p:cNvPr>
          <p:cNvSpPr>
            <a:spLocks noGrp="1"/>
          </p:cNvSpPr>
          <p:nvPr>
            <p:ph type="dt" sz="half" idx="10"/>
          </p:nvPr>
        </p:nvSpPr>
        <p:spPr/>
        <p:txBody>
          <a:bodyPr/>
          <a:lstStyle/>
          <a:p>
            <a:fld id="{9CD3A375-7345-412C-A8C9-13024C838417}" type="datetime1">
              <a:rPr lang="en-IN" smtClean="0"/>
              <a:t>09-06-2025</a:t>
            </a:fld>
            <a:endParaRPr lang="en-IN"/>
          </a:p>
        </p:txBody>
      </p:sp>
      <p:sp>
        <p:nvSpPr>
          <p:cNvPr id="6" name="Footer Placeholder 5">
            <a:extLst>
              <a:ext uri="{FF2B5EF4-FFF2-40B4-BE49-F238E27FC236}">
                <a16:creationId xmlns:a16="http://schemas.microsoft.com/office/drawing/2014/main" id="{03B1EF49-1FF4-AAE6-DF20-6F66493A04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60234F-E4AE-36F5-3192-957D8A7643B5}"/>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2494934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2E697-F8AC-2F1D-3358-3BCDCB2391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C57880-954F-3A8A-3FCC-8EB199A1B4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8F3D46-0231-3F12-7842-72BBCE5614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5D39B4-367D-AAEE-BE75-6167C036FE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AAE7E2-0FDF-1379-28C8-32CA64653E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B7EE42-6825-3757-33B4-6150E6348216}"/>
              </a:ext>
            </a:extLst>
          </p:cNvPr>
          <p:cNvSpPr>
            <a:spLocks noGrp="1"/>
          </p:cNvSpPr>
          <p:nvPr>
            <p:ph type="dt" sz="half" idx="10"/>
          </p:nvPr>
        </p:nvSpPr>
        <p:spPr/>
        <p:txBody>
          <a:bodyPr/>
          <a:lstStyle/>
          <a:p>
            <a:fld id="{8C104EEC-63F5-44A2-9D53-E6655DA0C12A}" type="datetime1">
              <a:rPr lang="en-IN" smtClean="0"/>
              <a:t>09-06-2025</a:t>
            </a:fld>
            <a:endParaRPr lang="en-IN"/>
          </a:p>
        </p:txBody>
      </p:sp>
      <p:sp>
        <p:nvSpPr>
          <p:cNvPr id="8" name="Footer Placeholder 7">
            <a:extLst>
              <a:ext uri="{FF2B5EF4-FFF2-40B4-BE49-F238E27FC236}">
                <a16:creationId xmlns:a16="http://schemas.microsoft.com/office/drawing/2014/main" id="{B66403C6-152D-D525-4847-C203CE33394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F3FF7E-6CEF-63D2-961C-A30EAAA9DBDE}"/>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2282816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6FB6-1F6E-7D74-57B8-055BDD7E36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C6FA22-8FAE-35FA-A392-5F38C466F9DE}"/>
              </a:ext>
            </a:extLst>
          </p:cNvPr>
          <p:cNvSpPr>
            <a:spLocks noGrp="1"/>
          </p:cNvSpPr>
          <p:nvPr>
            <p:ph type="dt" sz="half" idx="10"/>
          </p:nvPr>
        </p:nvSpPr>
        <p:spPr/>
        <p:txBody>
          <a:bodyPr/>
          <a:lstStyle/>
          <a:p>
            <a:fld id="{418F2A03-F643-4203-9CFA-3C9E2B306FDE}" type="datetime1">
              <a:rPr lang="en-IN" smtClean="0"/>
              <a:t>09-06-2025</a:t>
            </a:fld>
            <a:endParaRPr lang="en-IN"/>
          </a:p>
        </p:txBody>
      </p:sp>
      <p:sp>
        <p:nvSpPr>
          <p:cNvPr id="4" name="Footer Placeholder 3">
            <a:extLst>
              <a:ext uri="{FF2B5EF4-FFF2-40B4-BE49-F238E27FC236}">
                <a16:creationId xmlns:a16="http://schemas.microsoft.com/office/drawing/2014/main" id="{D6683099-5E1C-15B7-BD86-CDE5C90DE2D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A543E1-C8FA-818A-5C03-920A0EC7830C}"/>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120827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6B3906-95C3-9D9C-2FA3-2CE913D82E07}"/>
              </a:ext>
            </a:extLst>
          </p:cNvPr>
          <p:cNvSpPr>
            <a:spLocks noGrp="1"/>
          </p:cNvSpPr>
          <p:nvPr>
            <p:ph type="dt" sz="half" idx="10"/>
          </p:nvPr>
        </p:nvSpPr>
        <p:spPr/>
        <p:txBody>
          <a:bodyPr/>
          <a:lstStyle/>
          <a:p>
            <a:fld id="{3F545135-E9B4-404B-8DEF-6D1EB63D86BF}" type="datetime1">
              <a:rPr lang="en-IN" smtClean="0"/>
              <a:t>09-06-2025</a:t>
            </a:fld>
            <a:endParaRPr lang="en-IN"/>
          </a:p>
        </p:txBody>
      </p:sp>
      <p:sp>
        <p:nvSpPr>
          <p:cNvPr id="3" name="Footer Placeholder 2">
            <a:extLst>
              <a:ext uri="{FF2B5EF4-FFF2-40B4-BE49-F238E27FC236}">
                <a16:creationId xmlns:a16="http://schemas.microsoft.com/office/drawing/2014/main" id="{0462AE70-A7BF-07B4-56D4-53DAA965E0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F2B13F-5656-ED6E-D260-44B8F6017DC0}"/>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4022569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E9823-67DD-4C98-92D4-4542B7654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CA9788-CA1E-C67A-4464-6296D05A94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BE1F8F-015C-C80C-215D-3DB1A1ADE6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E0A51C-53BB-4AB0-D819-48FAF5DBCCBE}"/>
              </a:ext>
            </a:extLst>
          </p:cNvPr>
          <p:cNvSpPr>
            <a:spLocks noGrp="1"/>
          </p:cNvSpPr>
          <p:nvPr>
            <p:ph type="dt" sz="half" idx="10"/>
          </p:nvPr>
        </p:nvSpPr>
        <p:spPr/>
        <p:txBody>
          <a:bodyPr/>
          <a:lstStyle/>
          <a:p>
            <a:fld id="{0E9F6EB4-B181-4CA8-ABFD-8A0BC77895D7}" type="datetime1">
              <a:rPr lang="en-IN" smtClean="0"/>
              <a:t>09-06-2025</a:t>
            </a:fld>
            <a:endParaRPr lang="en-IN"/>
          </a:p>
        </p:txBody>
      </p:sp>
      <p:sp>
        <p:nvSpPr>
          <p:cNvPr id="6" name="Footer Placeholder 5">
            <a:extLst>
              <a:ext uri="{FF2B5EF4-FFF2-40B4-BE49-F238E27FC236}">
                <a16:creationId xmlns:a16="http://schemas.microsoft.com/office/drawing/2014/main" id="{F19146B0-9422-A244-3863-12FE365F46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AFB644-F8BE-9020-5B47-8018AAB65E53}"/>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4043210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9B471-1EFE-9578-9006-E4AD91F98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DBB844-D555-BA04-DCE6-5662B53BC2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A3A516-F3BB-77FF-F028-C29CE5B71E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E47B63-BD5D-7EDC-8E69-6D27B25D7DCD}"/>
              </a:ext>
            </a:extLst>
          </p:cNvPr>
          <p:cNvSpPr>
            <a:spLocks noGrp="1"/>
          </p:cNvSpPr>
          <p:nvPr>
            <p:ph type="dt" sz="half" idx="10"/>
          </p:nvPr>
        </p:nvSpPr>
        <p:spPr/>
        <p:txBody>
          <a:bodyPr/>
          <a:lstStyle/>
          <a:p>
            <a:fld id="{DB95963F-4F71-4B36-8899-3BA67335FC78}" type="datetime1">
              <a:rPr lang="en-IN" smtClean="0"/>
              <a:t>09-06-2025</a:t>
            </a:fld>
            <a:endParaRPr lang="en-IN"/>
          </a:p>
        </p:txBody>
      </p:sp>
      <p:sp>
        <p:nvSpPr>
          <p:cNvPr id="6" name="Footer Placeholder 5">
            <a:extLst>
              <a:ext uri="{FF2B5EF4-FFF2-40B4-BE49-F238E27FC236}">
                <a16:creationId xmlns:a16="http://schemas.microsoft.com/office/drawing/2014/main" id="{FF3D3617-B388-6097-A699-DD262C0307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3AC036-0E79-C1C7-DC68-373B66B1D130}"/>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747740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888CA-FD65-A045-FBBB-DDD0E943DB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EACC4F-0BEF-B8D8-44B5-84AAB3F60C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4E0CA5-75F9-E8D0-BACE-2B24A6419210}"/>
              </a:ext>
            </a:extLst>
          </p:cNvPr>
          <p:cNvSpPr>
            <a:spLocks noGrp="1"/>
          </p:cNvSpPr>
          <p:nvPr>
            <p:ph type="dt" sz="half" idx="10"/>
          </p:nvPr>
        </p:nvSpPr>
        <p:spPr/>
        <p:txBody>
          <a:bodyPr/>
          <a:lstStyle/>
          <a:p>
            <a:fld id="{231C073A-47EE-4F84-A44C-C99B7F10A77B}" type="datetime1">
              <a:rPr lang="en-IN" smtClean="0"/>
              <a:t>09-06-2025</a:t>
            </a:fld>
            <a:endParaRPr lang="en-IN"/>
          </a:p>
        </p:txBody>
      </p:sp>
      <p:sp>
        <p:nvSpPr>
          <p:cNvPr id="5" name="Footer Placeholder 4">
            <a:extLst>
              <a:ext uri="{FF2B5EF4-FFF2-40B4-BE49-F238E27FC236}">
                <a16:creationId xmlns:a16="http://schemas.microsoft.com/office/drawing/2014/main" id="{D5D7C0A0-FB5D-6B27-F7EE-C783480D2D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3D7257-671A-6407-5124-B7042A6770F5}"/>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111148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34B7D5-67CB-B5D6-C445-ABA144A513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2D9296-AC57-ABFC-C2A9-67A8606B46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B4248C-1628-5243-77B3-0CB6A79A036C}"/>
              </a:ext>
            </a:extLst>
          </p:cNvPr>
          <p:cNvSpPr>
            <a:spLocks noGrp="1"/>
          </p:cNvSpPr>
          <p:nvPr>
            <p:ph type="dt" sz="half" idx="10"/>
          </p:nvPr>
        </p:nvSpPr>
        <p:spPr/>
        <p:txBody>
          <a:bodyPr/>
          <a:lstStyle/>
          <a:p>
            <a:fld id="{56E35D64-840C-476A-9B49-8CD6217CB1AE}" type="datetime1">
              <a:rPr lang="en-IN" smtClean="0"/>
              <a:t>09-06-2025</a:t>
            </a:fld>
            <a:endParaRPr lang="en-IN"/>
          </a:p>
        </p:txBody>
      </p:sp>
      <p:sp>
        <p:nvSpPr>
          <p:cNvPr id="5" name="Footer Placeholder 4">
            <a:extLst>
              <a:ext uri="{FF2B5EF4-FFF2-40B4-BE49-F238E27FC236}">
                <a16:creationId xmlns:a16="http://schemas.microsoft.com/office/drawing/2014/main" id="{4039C235-D07A-11F1-CCB4-EA1CF5A134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9D3C7D-9015-0F65-154D-19156DBE9581}"/>
              </a:ext>
            </a:extLst>
          </p:cNvPr>
          <p:cNvSpPr>
            <a:spLocks noGrp="1"/>
          </p:cNvSpPr>
          <p:nvPr>
            <p:ph type="sldNum" sz="quarter" idx="12"/>
          </p:nvPr>
        </p:nvSpPr>
        <p:spPr/>
        <p:txBody>
          <a:bodyPr/>
          <a:lstStyle/>
          <a:p>
            <a:fld id="{C12FC651-4061-4C6F-B8D9-317E90C46102}" type="slidenum">
              <a:rPr lang="en-IN" smtClean="0"/>
              <a:t>‹#›</a:t>
            </a:fld>
            <a:endParaRPr lang="en-IN"/>
          </a:p>
        </p:txBody>
      </p:sp>
    </p:spTree>
    <p:extLst>
      <p:ext uri="{BB962C8B-B14F-4D97-AF65-F5344CB8AC3E}">
        <p14:creationId xmlns:p14="http://schemas.microsoft.com/office/powerpoint/2010/main" val="3959188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5220A-608A-5049-8414-FD14787E0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47C45E-A964-0B91-5053-70CA68999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C5BABB-6C85-0643-9044-AEDCBF5127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0AEB28-DF6D-4F5D-9BEE-9AED04033775}" type="datetime1">
              <a:rPr lang="en-IN" smtClean="0"/>
              <a:t>09-06-2025</a:t>
            </a:fld>
            <a:endParaRPr lang="en-IN"/>
          </a:p>
        </p:txBody>
      </p:sp>
      <p:sp>
        <p:nvSpPr>
          <p:cNvPr id="5" name="Footer Placeholder 4">
            <a:extLst>
              <a:ext uri="{FF2B5EF4-FFF2-40B4-BE49-F238E27FC236}">
                <a16:creationId xmlns:a16="http://schemas.microsoft.com/office/drawing/2014/main" id="{7DF49BCB-7192-060D-DE13-F77B292772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2E4F76-EE08-C7B1-7ED4-A7599B9800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2FC651-4061-4C6F-B8D9-317E90C46102}" type="slidenum">
              <a:rPr lang="en-IN" smtClean="0"/>
              <a:t>‹#›</a:t>
            </a:fld>
            <a:endParaRPr lang="en-IN"/>
          </a:p>
        </p:txBody>
      </p:sp>
    </p:spTree>
    <p:extLst>
      <p:ext uri="{BB962C8B-B14F-4D97-AF65-F5344CB8AC3E}">
        <p14:creationId xmlns:p14="http://schemas.microsoft.com/office/powerpoint/2010/main" val="1842382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flickr.com/photos/natspressoffice/13085089605/"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creativecommons.org/licenses/by-nc-nd/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alpha val="46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BDD48-11F2-8881-2F1D-203096D30158}"/>
              </a:ext>
            </a:extLst>
          </p:cNvPr>
          <p:cNvSpPr>
            <a:spLocks noGrp="1"/>
          </p:cNvSpPr>
          <p:nvPr>
            <p:ph type="title"/>
          </p:nvPr>
        </p:nvSpPr>
        <p:spPr>
          <a:xfrm>
            <a:off x="735330" y="870962"/>
            <a:ext cx="10515600" cy="1325563"/>
          </a:xfrm>
        </p:spPr>
        <p:txBody>
          <a:bodyPr>
            <a:normAutofit/>
          </a:bodyPr>
          <a:lstStyle/>
          <a:p>
            <a:pPr algn="ctr"/>
            <a:r>
              <a:rPr lang="en-IN" sz="3200" dirty="0">
                <a:latin typeface="Times New Roman" panose="02020603050405020304" pitchFamily="18" charset="0"/>
                <a:cs typeface="Times New Roman" panose="02020603050405020304" pitchFamily="18" charset="0"/>
              </a:rPr>
              <a:t>NETWORK TRAFFIC ANALYSIS USING MACHINE LEARNING</a:t>
            </a:r>
          </a:p>
        </p:txBody>
      </p:sp>
      <p:sp>
        <p:nvSpPr>
          <p:cNvPr id="6" name="TextBox 5">
            <a:extLst>
              <a:ext uri="{FF2B5EF4-FFF2-40B4-BE49-F238E27FC236}">
                <a16:creationId xmlns:a16="http://schemas.microsoft.com/office/drawing/2014/main" id="{7F7FC7E2-D80B-6ACD-8D10-30123FEC3031}"/>
              </a:ext>
            </a:extLst>
          </p:cNvPr>
          <p:cNvSpPr txBox="1"/>
          <p:nvPr/>
        </p:nvSpPr>
        <p:spPr>
          <a:xfrm>
            <a:off x="130084" y="4661475"/>
            <a:ext cx="2864576" cy="1877437"/>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Under the Guidance of</a:t>
            </a:r>
          </a:p>
          <a:p>
            <a:pPr algn="ctr"/>
            <a:r>
              <a:rPr lang="en-IN" sz="2000" dirty="0">
                <a:latin typeface="Times New Roman" panose="02020603050405020304" pitchFamily="18" charset="0"/>
                <a:cs typeface="Times New Roman" panose="02020603050405020304" pitchFamily="18" charset="0"/>
              </a:rPr>
              <a:t>K.SANDHYA</a:t>
            </a:r>
          </a:p>
          <a:p>
            <a:pPr algn="ctr"/>
            <a:r>
              <a:rPr lang="en-IN" sz="2000" dirty="0">
                <a:latin typeface="Times New Roman" panose="02020603050405020304" pitchFamily="18" charset="0"/>
                <a:cs typeface="Times New Roman" panose="02020603050405020304" pitchFamily="18" charset="0"/>
              </a:rPr>
              <a:t>B.TECH , M.TECH</a:t>
            </a:r>
          </a:p>
          <a:p>
            <a:pPr algn="ctr"/>
            <a:r>
              <a:rPr lang="en-IN" sz="2000" dirty="0">
                <a:latin typeface="Times New Roman" panose="02020603050405020304" pitchFamily="18" charset="0"/>
                <a:cs typeface="Times New Roman" panose="02020603050405020304" pitchFamily="18" charset="0"/>
              </a:rPr>
              <a:t>Asst.Professor</a:t>
            </a:r>
          </a:p>
          <a:p>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7E27AB2-8177-3D5D-E6B4-5FD49B306ED1}"/>
              </a:ext>
            </a:extLst>
          </p:cNvPr>
          <p:cNvSpPr txBox="1"/>
          <p:nvPr/>
        </p:nvSpPr>
        <p:spPr>
          <a:xfrm>
            <a:off x="4292237" y="4401689"/>
            <a:ext cx="8120743" cy="1631216"/>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PRESENTED BY</a:t>
            </a:r>
          </a:p>
          <a:p>
            <a:pPr algn="just"/>
            <a:r>
              <a:rPr lang="en-IN" sz="2000" dirty="0">
                <a:latin typeface="Times New Roman" panose="02020603050405020304" pitchFamily="18" charset="0"/>
                <a:cs typeface="Times New Roman" panose="02020603050405020304" pitchFamily="18" charset="0"/>
              </a:rPr>
              <a:t>VIJAYASRI  JUNNU                                                        21S11A05C6</a:t>
            </a:r>
          </a:p>
          <a:p>
            <a:pPr algn="just"/>
            <a:r>
              <a:rPr lang="en-IN" sz="2000" dirty="0">
                <a:latin typeface="Times New Roman" panose="02020603050405020304" pitchFamily="18" charset="0"/>
                <a:cs typeface="Times New Roman" panose="02020603050405020304" pitchFamily="18" charset="0"/>
              </a:rPr>
              <a:t>KEERTHANA  JUMBARATH                                         21S11A0583</a:t>
            </a:r>
          </a:p>
          <a:p>
            <a:pPr algn="just"/>
            <a:r>
              <a:rPr lang="en-IN" sz="2000" dirty="0">
                <a:latin typeface="Times New Roman" panose="02020603050405020304" pitchFamily="18" charset="0"/>
                <a:cs typeface="Times New Roman" panose="02020603050405020304" pitchFamily="18" charset="0"/>
              </a:rPr>
              <a:t>VARSHINI  VASAM                                                         21S11A05C3</a:t>
            </a:r>
          </a:p>
          <a:p>
            <a:pPr algn="just"/>
            <a:r>
              <a:rPr lang="en-IN" sz="2000" dirty="0">
                <a:latin typeface="Times New Roman" panose="02020603050405020304" pitchFamily="18" charset="0"/>
                <a:cs typeface="Times New Roman" panose="02020603050405020304" pitchFamily="18" charset="0"/>
              </a:rPr>
              <a:t>SANDEEP  KAMSALI                                                      21S11A05A3</a:t>
            </a:r>
          </a:p>
        </p:txBody>
      </p:sp>
      <p:sp>
        <p:nvSpPr>
          <p:cNvPr id="9" name="Slide Number Placeholder 8">
            <a:extLst>
              <a:ext uri="{FF2B5EF4-FFF2-40B4-BE49-F238E27FC236}">
                <a16:creationId xmlns:a16="http://schemas.microsoft.com/office/drawing/2014/main" id="{2C1FC94D-52A3-E7F3-A18A-23A76FFAFC6B}"/>
              </a:ext>
            </a:extLst>
          </p:cNvPr>
          <p:cNvSpPr>
            <a:spLocks noGrp="1"/>
          </p:cNvSpPr>
          <p:nvPr>
            <p:ph type="sldNum" sz="quarter" idx="12"/>
          </p:nvPr>
        </p:nvSpPr>
        <p:spPr/>
        <p:txBody>
          <a:bodyPr/>
          <a:lstStyle/>
          <a:p>
            <a:fld id="{C12FC651-4061-4C6F-B8D9-317E90C46102}" type="slidenum">
              <a:rPr lang="en-IN" smtClean="0"/>
              <a:t>1</a:t>
            </a:fld>
            <a:endParaRPr lang="en-IN"/>
          </a:p>
        </p:txBody>
      </p:sp>
    </p:spTree>
    <p:extLst>
      <p:ext uri="{BB962C8B-B14F-4D97-AF65-F5344CB8AC3E}">
        <p14:creationId xmlns:p14="http://schemas.microsoft.com/office/powerpoint/2010/main" val="1075517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AF097E-6755-FE5F-3B1C-01D37AFE025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107072"/>
            <a:ext cx="12192000" cy="6965072"/>
          </a:xfrm>
          <a:prstGeom prst="rect">
            <a:avLst/>
          </a:prstGeom>
        </p:spPr>
      </p:pic>
      <p:graphicFrame>
        <p:nvGraphicFramePr>
          <p:cNvPr id="2" name="Table 1">
            <a:extLst>
              <a:ext uri="{FF2B5EF4-FFF2-40B4-BE49-F238E27FC236}">
                <a16:creationId xmlns:a16="http://schemas.microsoft.com/office/drawing/2014/main" id="{65D57B7D-1563-1CF3-100B-1CC0254C2DFE}"/>
              </a:ext>
            </a:extLst>
          </p:cNvPr>
          <p:cNvGraphicFramePr>
            <a:graphicFrameLocks noGrp="1"/>
          </p:cNvGraphicFramePr>
          <p:nvPr>
            <p:extLst>
              <p:ext uri="{D42A27DB-BD31-4B8C-83A1-F6EECF244321}">
                <p14:modId xmlns:p14="http://schemas.microsoft.com/office/powerpoint/2010/main" val="1442366088"/>
              </p:ext>
            </p:extLst>
          </p:nvPr>
        </p:nvGraphicFramePr>
        <p:xfrm>
          <a:off x="0" y="0"/>
          <a:ext cx="12192000" cy="6858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36166559"/>
                    </a:ext>
                  </a:extLst>
                </a:gridCol>
                <a:gridCol w="2032000">
                  <a:extLst>
                    <a:ext uri="{9D8B030D-6E8A-4147-A177-3AD203B41FA5}">
                      <a16:colId xmlns:a16="http://schemas.microsoft.com/office/drawing/2014/main" val="996889141"/>
                    </a:ext>
                  </a:extLst>
                </a:gridCol>
                <a:gridCol w="2032000">
                  <a:extLst>
                    <a:ext uri="{9D8B030D-6E8A-4147-A177-3AD203B41FA5}">
                      <a16:colId xmlns:a16="http://schemas.microsoft.com/office/drawing/2014/main" val="1418603617"/>
                    </a:ext>
                  </a:extLst>
                </a:gridCol>
                <a:gridCol w="2032000">
                  <a:extLst>
                    <a:ext uri="{9D8B030D-6E8A-4147-A177-3AD203B41FA5}">
                      <a16:colId xmlns:a16="http://schemas.microsoft.com/office/drawing/2014/main" val="4179794690"/>
                    </a:ext>
                  </a:extLst>
                </a:gridCol>
                <a:gridCol w="2032000">
                  <a:extLst>
                    <a:ext uri="{9D8B030D-6E8A-4147-A177-3AD203B41FA5}">
                      <a16:colId xmlns:a16="http://schemas.microsoft.com/office/drawing/2014/main" val="2613572993"/>
                    </a:ext>
                  </a:extLst>
                </a:gridCol>
                <a:gridCol w="2032000">
                  <a:extLst>
                    <a:ext uri="{9D8B030D-6E8A-4147-A177-3AD203B41FA5}">
                      <a16:colId xmlns:a16="http://schemas.microsoft.com/office/drawing/2014/main" val="82159312"/>
                    </a:ext>
                  </a:extLst>
                </a:gridCol>
              </a:tblGrid>
              <a:tr h="1371600">
                <a:tc>
                  <a:txBody>
                    <a:bodyPr/>
                    <a:lstStyle/>
                    <a:p>
                      <a:endParaRPr lang="en-IN"/>
                    </a:p>
                  </a:txBody>
                  <a:tcP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0024256"/>
                  </a:ext>
                </a:extLst>
              </a:tr>
              <a:tr h="1371600">
                <a:tc>
                  <a:txBody>
                    <a:bodyPr/>
                    <a:lstStyle/>
                    <a:p>
                      <a:endParaRPr lang="en-IN"/>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720975"/>
                  </a:ext>
                </a:extLst>
              </a:tr>
              <a:tr h="1371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0" dirty="0"/>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420305"/>
                  </a:ext>
                </a:extLst>
              </a:tr>
              <a:tr h="1371600">
                <a:tc>
                  <a:txBody>
                    <a:bodyPr/>
                    <a:lstStyle/>
                    <a:p>
                      <a:endParaRPr lang="en-IN"/>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5171513"/>
                  </a:ext>
                </a:extLst>
              </a:tr>
              <a:tr h="1371600">
                <a:tc>
                  <a:txBody>
                    <a:bodyPr/>
                    <a:lstStyle/>
                    <a:p>
                      <a:endParaRPr lang="en-IN"/>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32866858"/>
                  </a:ext>
                </a:extLst>
              </a:tr>
            </a:tbl>
          </a:graphicData>
        </a:graphic>
      </p:graphicFrame>
      <p:sp>
        <p:nvSpPr>
          <p:cNvPr id="5" name="TextBox 4">
            <a:extLst>
              <a:ext uri="{FF2B5EF4-FFF2-40B4-BE49-F238E27FC236}">
                <a16:creationId xmlns:a16="http://schemas.microsoft.com/office/drawing/2014/main" id="{1A566E86-609B-5E88-1556-98269F373CB6}"/>
              </a:ext>
            </a:extLst>
          </p:cNvPr>
          <p:cNvSpPr txBox="1"/>
          <p:nvPr/>
        </p:nvSpPr>
        <p:spPr>
          <a:xfrm>
            <a:off x="162036" y="6176228"/>
            <a:ext cx="11982767" cy="234748"/>
          </a:xfrm>
          <a:prstGeom prst="rect">
            <a:avLst/>
          </a:prstGeom>
          <a:noFill/>
        </p:spPr>
        <p:txBody>
          <a:bodyPr wrap="square" rtlCol="0">
            <a:spAutoFit/>
          </a:bodyPr>
          <a:lstStyle/>
          <a:p>
            <a:r>
              <a:rPr lang="en-IN" sz="900">
                <a:hlinkClick r:id="rId3" tooltip="https://www.flickr.com/photos/natspressoffice/13085089605/"/>
              </a:rPr>
              <a:t>This Photo</a:t>
            </a:r>
            <a:r>
              <a:rPr lang="en-IN" sz="900"/>
              <a:t> by Unknown Author is licensed under </a:t>
            </a:r>
            <a:r>
              <a:rPr lang="en-IN" sz="900">
                <a:hlinkClick r:id="rId4" tooltip="https://creativecommons.org/licenses/by-nc-nd/3.0/"/>
              </a:rPr>
              <a:t>CC BY-NC-ND</a:t>
            </a:r>
            <a:endParaRPr lang="en-IN" sz="900"/>
          </a:p>
        </p:txBody>
      </p:sp>
      <p:sp>
        <p:nvSpPr>
          <p:cNvPr id="6" name="TextBox 5">
            <a:extLst>
              <a:ext uri="{FF2B5EF4-FFF2-40B4-BE49-F238E27FC236}">
                <a16:creationId xmlns:a16="http://schemas.microsoft.com/office/drawing/2014/main" id="{0E71EDC0-1DA9-04CD-50C1-EF6C531DEE5F}"/>
              </a:ext>
            </a:extLst>
          </p:cNvPr>
          <p:cNvSpPr txBox="1"/>
          <p:nvPr/>
        </p:nvSpPr>
        <p:spPr>
          <a:xfrm>
            <a:off x="429987" y="2975205"/>
            <a:ext cx="4838700" cy="2308324"/>
          </a:xfrm>
          <a:prstGeom prst="rect">
            <a:avLst/>
          </a:prstGeom>
          <a:noFill/>
        </p:spPr>
        <p:txBody>
          <a:bodyPr wrap="square" rtlCol="0">
            <a:spAutoFit/>
          </a:bodyPr>
          <a:lstStyle/>
          <a:p>
            <a:pPr algn="ctr"/>
            <a:r>
              <a:rPr lang="en-US" sz="3600" dirty="0">
                <a:latin typeface="Arial Rounded MT Bold" panose="020F0704030504030204" pitchFamily="34" charset="0"/>
              </a:rPr>
              <a:t>NETWORK TRAFFIC ANALYSIS</a:t>
            </a:r>
          </a:p>
          <a:p>
            <a:pPr algn="ctr"/>
            <a:r>
              <a:rPr lang="en-US" sz="3600" dirty="0">
                <a:latin typeface="Arial Rounded MT Bold" panose="020F0704030504030204" pitchFamily="34" charset="0"/>
              </a:rPr>
              <a:t>USING MACHINE LEARNING</a:t>
            </a:r>
            <a:endParaRPr lang="en-IN" sz="3600" dirty="0">
              <a:latin typeface="Arial Rounded MT Bold" panose="020F0704030504030204" pitchFamily="34" charset="0"/>
            </a:endParaRPr>
          </a:p>
        </p:txBody>
      </p:sp>
      <p:sp>
        <p:nvSpPr>
          <p:cNvPr id="7" name="Slide Number Placeholder 6">
            <a:extLst>
              <a:ext uri="{FF2B5EF4-FFF2-40B4-BE49-F238E27FC236}">
                <a16:creationId xmlns:a16="http://schemas.microsoft.com/office/drawing/2014/main" id="{DD400E41-90A8-8885-FA02-55BFD633279A}"/>
              </a:ext>
            </a:extLst>
          </p:cNvPr>
          <p:cNvSpPr>
            <a:spLocks noGrp="1"/>
          </p:cNvSpPr>
          <p:nvPr>
            <p:ph type="sldNum" sz="quarter" idx="12"/>
          </p:nvPr>
        </p:nvSpPr>
        <p:spPr/>
        <p:txBody>
          <a:bodyPr/>
          <a:lstStyle/>
          <a:p>
            <a:fld id="{C12FC651-4061-4C6F-B8D9-317E90C46102}" type="slidenum">
              <a:rPr lang="en-IN" smtClean="0"/>
              <a:t>2</a:t>
            </a:fld>
            <a:endParaRPr lang="en-IN"/>
          </a:p>
        </p:txBody>
      </p:sp>
    </p:spTree>
    <p:extLst>
      <p:ext uri="{BB962C8B-B14F-4D97-AF65-F5344CB8AC3E}">
        <p14:creationId xmlns:p14="http://schemas.microsoft.com/office/powerpoint/2010/main" val="2530328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82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F3EA60-BE8F-B55D-5DCB-66EFD155DD81}"/>
              </a:ext>
            </a:extLst>
          </p:cNvPr>
          <p:cNvSpPr>
            <a:spLocks noGrp="1"/>
          </p:cNvSpPr>
          <p:nvPr>
            <p:ph type="sldNum" sz="quarter" idx="12"/>
          </p:nvPr>
        </p:nvSpPr>
        <p:spPr/>
        <p:txBody>
          <a:bodyPr/>
          <a:lstStyle/>
          <a:p>
            <a:fld id="{C12FC651-4061-4C6F-B8D9-317E90C46102}" type="slidenum">
              <a:rPr lang="en-IN" smtClean="0"/>
              <a:t>3</a:t>
            </a:fld>
            <a:endParaRPr lang="en-IN" dirty="0"/>
          </a:p>
        </p:txBody>
      </p:sp>
      <p:sp>
        <p:nvSpPr>
          <p:cNvPr id="6" name="TextBox 5">
            <a:extLst>
              <a:ext uri="{FF2B5EF4-FFF2-40B4-BE49-F238E27FC236}">
                <a16:creationId xmlns:a16="http://schemas.microsoft.com/office/drawing/2014/main" id="{5D853ABE-965A-9255-0310-FBBD93977288}"/>
              </a:ext>
            </a:extLst>
          </p:cNvPr>
          <p:cNvSpPr txBox="1"/>
          <p:nvPr/>
        </p:nvSpPr>
        <p:spPr>
          <a:xfrm>
            <a:off x="0" y="300341"/>
            <a:ext cx="10755086" cy="643404"/>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273BC2EC-9514-3991-C2E9-7A70B3608E32}"/>
              </a:ext>
            </a:extLst>
          </p:cNvPr>
          <p:cNvSpPr txBox="1"/>
          <p:nvPr/>
        </p:nvSpPr>
        <p:spPr>
          <a:xfrm>
            <a:off x="0" y="136525"/>
            <a:ext cx="12192000" cy="584775"/>
          </a:xfrm>
          <a:prstGeom prst="rect">
            <a:avLst/>
          </a:prstGeom>
          <a:solidFill>
            <a:schemeClr val="bg2">
              <a:lumMod val="20000"/>
              <a:lumOff val="80000"/>
            </a:schemeClr>
          </a:solidFill>
        </p:spPr>
        <p:txBody>
          <a:bodyPr wrap="square" rtlCol="0">
            <a:spAutoFit/>
          </a:bodyPr>
          <a:lstStyle/>
          <a:p>
            <a:pPr algn="ctr"/>
            <a:r>
              <a:rPr lang="en-IN" sz="3200" b="1" dirty="0">
                <a:solidFill>
                  <a:schemeClr val="accent1">
                    <a:lumMod val="50000"/>
                  </a:schemeClr>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449738A2-43E9-97F0-4DBB-76785F7ADF17}"/>
              </a:ext>
            </a:extLst>
          </p:cNvPr>
          <p:cNvSpPr txBox="1"/>
          <p:nvPr/>
        </p:nvSpPr>
        <p:spPr>
          <a:xfrm>
            <a:off x="174172" y="1107561"/>
            <a:ext cx="11506200" cy="3170099"/>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the world of networking, it sometimes becomes essential to know what types of applications flow through the network for performance of certain tasks. Network traffic classification sees its main usage among ISPs to analyze the characteristics required to design the network and hence affects the overall performance of a network. For an implementation of Machine learning algorithm, python sklearn library is used with NumPy and Pandas library used as helper libraries. Finally, we observe that K nearest algorithm gives more accurate prediction than Naïve Bayes Algorithm, Decision Tree Algorithm and Support Vector Machine.</a:t>
            </a:r>
          </a:p>
          <a:p>
            <a:pPr marL="342900" indent="-342900">
              <a:buFont typeface="Wingdings" panose="05000000000000000000" pitchFamily="2" charset="2"/>
              <a:buChar char="Ø"/>
            </a:pPr>
            <a:endParaRPr lang="en-US" sz="2000" dirty="0"/>
          </a:p>
        </p:txBody>
      </p:sp>
    </p:spTree>
    <p:extLst>
      <p:ext uri="{BB962C8B-B14F-4D97-AF65-F5344CB8AC3E}">
        <p14:creationId xmlns:p14="http://schemas.microsoft.com/office/powerpoint/2010/main" val="4047934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F33492-A2F0-74CA-C6EB-5630B798519F}"/>
              </a:ext>
            </a:extLst>
          </p:cNvPr>
          <p:cNvSpPr>
            <a:spLocks noGrp="1"/>
          </p:cNvSpPr>
          <p:nvPr>
            <p:ph type="sldNum" sz="quarter" idx="12"/>
          </p:nvPr>
        </p:nvSpPr>
        <p:spPr/>
        <p:txBody>
          <a:bodyPr/>
          <a:lstStyle/>
          <a:p>
            <a:fld id="{C12FC651-4061-4C6F-B8D9-317E90C46102}" type="slidenum">
              <a:rPr lang="en-IN" smtClean="0"/>
              <a:t>4</a:t>
            </a:fld>
            <a:endParaRPr lang="en-IN"/>
          </a:p>
        </p:txBody>
      </p:sp>
      <p:sp>
        <p:nvSpPr>
          <p:cNvPr id="3" name="Rectangle: Rounded Corners 2">
            <a:extLst>
              <a:ext uri="{FF2B5EF4-FFF2-40B4-BE49-F238E27FC236}">
                <a16:creationId xmlns:a16="http://schemas.microsoft.com/office/drawing/2014/main" id="{A3477B8E-BCE8-4CDE-52BD-7BF87BC08A1E}"/>
              </a:ext>
            </a:extLst>
          </p:cNvPr>
          <p:cNvSpPr/>
          <p:nvPr/>
        </p:nvSpPr>
        <p:spPr>
          <a:xfrm>
            <a:off x="114300" y="136525"/>
            <a:ext cx="11963400" cy="6584950"/>
          </a:xfrm>
          <a:prstGeom prst="round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28BD40A1-57E2-5133-D723-ACBA8E79A45B}"/>
              </a:ext>
            </a:extLst>
          </p:cNvPr>
          <p:cNvSpPr txBox="1"/>
          <p:nvPr/>
        </p:nvSpPr>
        <p:spPr>
          <a:xfrm>
            <a:off x="3532414" y="413266"/>
            <a:ext cx="4816928" cy="581932"/>
          </a:xfrm>
          <a:prstGeom prst="rect">
            <a:avLst/>
          </a:prstGeom>
          <a:noFill/>
        </p:spPr>
        <p:txBody>
          <a:bodyPr wrap="square" rtlCol="0">
            <a:spAutoFit/>
          </a:bodyPr>
          <a:lstStyle/>
          <a:p>
            <a:pPr algn="ctr"/>
            <a:r>
              <a:rPr lang="en-US" sz="3200" dirty="0">
                <a:solidFill>
                  <a:schemeClr val="accent2">
                    <a:lumMod val="50000"/>
                  </a:schemeClr>
                </a:solidFill>
                <a:latin typeface="Times New Roman" panose="02020603050405020304" pitchFamily="18" charset="0"/>
                <a:cs typeface="Times New Roman" panose="02020603050405020304" pitchFamily="18" charset="0"/>
              </a:rPr>
              <a:t>EXISTING SYSTEM</a:t>
            </a:r>
            <a:endParaRPr lang="en-IN" sz="32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6ED1C01-6DC3-75D0-0B9E-5BEA6081CC21}"/>
              </a:ext>
            </a:extLst>
          </p:cNvPr>
          <p:cNvSpPr txBox="1"/>
          <p:nvPr/>
        </p:nvSpPr>
        <p:spPr>
          <a:xfrm>
            <a:off x="785586" y="1448799"/>
            <a:ext cx="11212286" cy="463397"/>
          </a:xfrm>
          <a:prstGeom prst="rect">
            <a:avLst/>
          </a:prstGeom>
          <a:noFill/>
        </p:spPr>
        <p:txBody>
          <a:bodyPr wrap="square" rtlCol="0">
            <a:spAutoFit/>
          </a:bodyPr>
          <a:lstStyle/>
          <a:p>
            <a:pPr marL="0" marR="0" lvl="0" indent="0" algn="just"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888B874-C319-82D0-E21C-2573B7029724}"/>
              </a:ext>
            </a:extLst>
          </p:cNvPr>
          <p:cNvSpPr txBox="1"/>
          <p:nvPr/>
        </p:nvSpPr>
        <p:spPr>
          <a:xfrm>
            <a:off x="785586" y="1545575"/>
            <a:ext cx="11212286" cy="2535566"/>
          </a:xfrm>
          <a:prstGeom prst="rect">
            <a:avLst/>
          </a:prstGeom>
          <a:noFill/>
        </p:spPr>
        <p:txBody>
          <a:bodyPr wrap="square" rtlCol="0">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(ML) has revolutionized network traffic analysis by enhancing security and efficiency. It enables anomaly detection to spot unusual traffic patterns, predictive maintenance to prevent downtime, and traffic classification to optimize resource allocation. ML also improves security threat detection by identifying and responding to threats like malware and DDoS attacks in real time, while performance optimization ensures smooth operations by addressing bottlenecks and optimizing configurations. These capabilities support adaptive network management, fostering dynamic adjustments for greater efficiency, security, and reliability.</a:t>
            </a:r>
          </a:p>
        </p:txBody>
      </p:sp>
    </p:spTree>
    <p:extLst>
      <p:ext uri="{BB962C8B-B14F-4D97-AF65-F5344CB8AC3E}">
        <p14:creationId xmlns:p14="http://schemas.microsoft.com/office/powerpoint/2010/main" val="2098084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alpha val="77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DA2D75-B268-9A9F-B6EE-51335EBD68CB}"/>
              </a:ext>
            </a:extLst>
          </p:cNvPr>
          <p:cNvSpPr>
            <a:spLocks noGrp="1"/>
          </p:cNvSpPr>
          <p:nvPr>
            <p:ph type="sldNum" sz="quarter" idx="12"/>
          </p:nvPr>
        </p:nvSpPr>
        <p:spPr/>
        <p:txBody>
          <a:bodyPr/>
          <a:lstStyle/>
          <a:p>
            <a:fld id="{C12FC651-4061-4C6F-B8D9-317E90C46102}" type="slidenum">
              <a:rPr lang="en-IN" smtClean="0"/>
              <a:t>5</a:t>
            </a:fld>
            <a:endParaRPr lang="en-IN"/>
          </a:p>
        </p:txBody>
      </p:sp>
      <p:sp>
        <p:nvSpPr>
          <p:cNvPr id="3" name="Rectangle: Rounded Corners 2">
            <a:extLst>
              <a:ext uri="{FF2B5EF4-FFF2-40B4-BE49-F238E27FC236}">
                <a16:creationId xmlns:a16="http://schemas.microsoft.com/office/drawing/2014/main" id="{F20E1011-697F-B91B-38F9-6AF0C2D5FE4A}"/>
              </a:ext>
            </a:extLst>
          </p:cNvPr>
          <p:cNvSpPr/>
          <p:nvPr/>
        </p:nvSpPr>
        <p:spPr>
          <a:xfrm>
            <a:off x="203200" y="220662"/>
            <a:ext cx="11785600" cy="641667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81083E04-8AF3-E029-294D-F51A174A4896}"/>
              </a:ext>
            </a:extLst>
          </p:cNvPr>
          <p:cNvSpPr txBox="1"/>
          <p:nvPr/>
        </p:nvSpPr>
        <p:spPr>
          <a:xfrm>
            <a:off x="827314" y="705664"/>
            <a:ext cx="9525000" cy="584775"/>
          </a:xfrm>
          <a:prstGeom prst="rect">
            <a:avLst/>
          </a:prstGeom>
          <a:noFill/>
        </p:spPr>
        <p:txBody>
          <a:bodyPr wrap="square" rtlCol="0">
            <a:spAutoFit/>
          </a:bodyPr>
          <a:lstStyle/>
          <a:p>
            <a:pPr algn="ctr"/>
            <a:r>
              <a:rPr lang="en-US" sz="3200" b="1" dirty="0">
                <a:solidFill>
                  <a:schemeClr val="accent1">
                    <a:lumMod val="50000"/>
                  </a:schemeClr>
                </a:solidFill>
                <a:latin typeface="Times New Roman" panose="02020603050405020304" pitchFamily="18" charset="0"/>
                <a:cs typeface="Times New Roman" panose="02020603050405020304" pitchFamily="18" charset="0"/>
              </a:rPr>
              <a:t>DISADVANTAGES </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3FE7E74-238E-69D5-E84A-6D90693B4FB9}"/>
              </a:ext>
            </a:extLst>
          </p:cNvPr>
          <p:cNvSpPr txBox="1"/>
          <p:nvPr/>
        </p:nvSpPr>
        <p:spPr>
          <a:xfrm>
            <a:off x="469900" y="1775441"/>
            <a:ext cx="11252200" cy="212006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Complex Models</a:t>
            </a:r>
            <a:r>
              <a:rPr lang="en-IN" dirty="0">
                <a:latin typeface="Times New Roman" panose="02020603050405020304" pitchFamily="18" charset="0"/>
                <a:cs typeface="Times New Roman" panose="02020603050405020304" pitchFamily="18" charset="0"/>
              </a:rPr>
              <a:t>: Require significant resources and expertise.</a:t>
            </a:r>
          </a:p>
          <a:p>
            <a:pPr marL="342900" indent="-34290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High False Positives</a:t>
            </a:r>
            <a:r>
              <a:rPr lang="en-US" dirty="0">
                <a:latin typeface="Times New Roman" panose="02020603050405020304" pitchFamily="18" charset="0"/>
                <a:cs typeface="Times New Roman" panose="02020603050405020304" pitchFamily="18" charset="0"/>
              </a:rPr>
              <a:t>: Normal behavior can be misclassified as anomalous.</a:t>
            </a:r>
          </a:p>
          <a:p>
            <a:pPr marL="342900" indent="-34290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Feature Engineering Complexity</a:t>
            </a:r>
            <a:r>
              <a:rPr lang="en-US" dirty="0">
                <a:latin typeface="Times New Roman" panose="02020603050405020304" pitchFamily="18" charset="0"/>
                <a:cs typeface="Times New Roman" panose="02020603050405020304" pitchFamily="18" charset="0"/>
              </a:rPr>
              <a:t>: Requires domain knowledge and understanding.</a:t>
            </a:r>
          </a:p>
          <a:p>
            <a:pPr marL="342900" indent="-34290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Privacy Concerns</a:t>
            </a:r>
            <a:r>
              <a:rPr lang="en-US" dirty="0">
                <a:latin typeface="Times New Roman" panose="02020603050405020304" pitchFamily="18" charset="0"/>
                <a:cs typeface="Times New Roman" panose="02020603050405020304" pitchFamily="18" charset="0"/>
              </a:rPr>
              <a:t>: Handling sensitive information raises privacy issues.</a:t>
            </a:r>
          </a:p>
          <a:p>
            <a:pPr marL="342900" indent="-34290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Risk of Overfitting</a:t>
            </a:r>
            <a:r>
              <a:rPr lang="en-US" dirty="0">
                <a:latin typeface="Times New Roman" panose="02020603050405020304" pitchFamily="18" charset="0"/>
                <a:cs typeface="Times New Roman" panose="02020603050405020304" pitchFamily="18" charset="0"/>
              </a:rPr>
              <a:t>: Models may not generalize well to new data.</a:t>
            </a:r>
          </a:p>
        </p:txBody>
      </p:sp>
      <p:sp>
        <p:nvSpPr>
          <p:cNvPr id="6" name="TextBox 5">
            <a:extLst>
              <a:ext uri="{FF2B5EF4-FFF2-40B4-BE49-F238E27FC236}">
                <a16:creationId xmlns:a16="http://schemas.microsoft.com/office/drawing/2014/main" id="{02870CF9-6C63-EA6F-0890-451A7C913296}"/>
              </a:ext>
            </a:extLst>
          </p:cNvPr>
          <p:cNvSpPr txBox="1"/>
          <p:nvPr/>
        </p:nvSpPr>
        <p:spPr>
          <a:xfrm>
            <a:off x="708660" y="342048"/>
            <a:ext cx="210312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Continued..</a:t>
            </a:r>
          </a:p>
          <a:p>
            <a:endParaRPr lang="en-IN" dirty="0"/>
          </a:p>
        </p:txBody>
      </p:sp>
    </p:spTree>
    <p:extLst>
      <p:ext uri="{BB962C8B-B14F-4D97-AF65-F5344CB8AC3E}">
        <p14:creationId xmlns:p14="http://schemas.microsoft.com/office/powerpoint/2010/main" val="938546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B0C2C9-072F-6E70-1357-CEE14FA98135}"/>
              </a:ext>
            </a:extLst>
          </p:cNvPr>
          <p:cNvSpPr>
            <a:spLocks noGrp="1"/>
          </p:cNvSpPr>
          <p:nvPr>
            <p:ph type="sldNum" sz="quarter" idx="12"/>
          </p:nvPr>
        </p:nvSpPr>
        <p:spPr/>
        <p:txBody>
          <a:bodyPr/>
          <a:lstStyle/>
          <a:p>
            <a:fld id="{C12FC651-4061-4C6F-B8D9-317E90C46102}" type="slidenum">
              <a:rPr lang="en-IN" smtClean="0"/>
              <a:t>6</a:t>
            </a:fld>
            <a:endParaRPr lang="en-IN"/>
          </a:p>
        </p:txBody>
      </p:sp>
      <p:sp>
        <p:nvSpPr>
          <p:cNvPr id="3" name="TextBox 2">
            <a:extLst>
              <a:ext uri="{FF2B5EF4-FFF2-40B4-BE49-F238E27FC236}">
                <a16:creationId xmlns:a16="http://schemas.microsoft.com/office/drawing/2014/main" id="{28945564-AFEC-2781-BD62-8D27BD25E2CE}"/>
              </a:ext>
            </a:extLst>
          </p:cNvPr>
          <p:cNvSpPr txBox="1"/>
          <p:nvPr/>
        </p:nvSpPr>
        <p:spPr>
          <a:xfrm>
            <a:off x="0" y="0"/>
            <a:ext cx="500743" cy="4267200"/>
          </a:xfrm>
          <a:prstGeom prst="rect">
            <a:avLst/>
          </a:prstGeom>
          <a:solidFill>
            <a:schemeClr val="bg2">
              <a:lumMod val="20000"/>
              <a:lumOff val="80000"/>
            </a:schemeClr>
          </a:solidFill>
        </p:spPr>
        <p:txBody>
          <a:bodyPr wrap="square" rtlCol="0">
            <a:spAutoFit/>
          </a:bodyPr>
          <a:lstStyle/>
          <a:p>
            <a:endParaRPr lang="en-IN" dirty="0"/>
          </a:p>
        </p:txBody>
      </p:sp>
      <p:sp>
        <p:nvSpPr>
          <p:cNvPr id="4" name="TextBox 3">
            <a:extLst>
              <a:ext uri="{FF2B5EF4-FFF2-40B4-BE49-F238E27FC236}">
                <a16:creationId xmlns:a16="http://schemas.microsoft.com/office/drawing/2014/main" id="{DBDDA324-8BF0-B9CE-9D88-554EE4024B3C}"/>
              </a:ext>
            </a:extLst>
          </p:cNvPr>
          <p:cNvSpPr txBox="1"/>
          <p:nvPr/>
        </p:nvSpPr>
        <p:spPr>
          <a:xfrm>
            <a:off x="500743" y="0"/>
            <a:ext cx="500743" cy="2917372"/>
          </a:xfrm>
          <a:prstGeom prst="rect">
            <a:avLst/>
          </a:prstGeom>
          <a:solidFill>
            <a:schemeClr val="bg2">
              <a:lumMod val="20000"/>
              <a:lumOff val="8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ECE75ED9-E56A-2902-54E2-DF1A93BE4949}"/>
              </a:ext>
            </a:extLst>
          </p:cNvPr>
          <p:cNvSpPr txBox="1"/>
          <p:nvPr/>
        </p:nvSpPr>
        <p:spPr>
          <a:xfrm>
            <a:off x="1001486" y="0"/>
            <a:ext cx="500743" cy="1709057"/>
          </a:xfrm>
          <a:prstGeom prst="rect">
            <a:avLst/>
          </a:prstGeom>
          <a:solidFill>
            <a:schemeClr val="bg2">
              <a:lumMod val="20000"/>
              <a:lumOff val="80000"/>
            </a:schemeClr>
          </a:solidFill>
          <a:ln>
            <a:noFill/>
          </a:ln>
        </p:spPr>
        <p:txBody>
          <a:bodyPr wrap="square" rtlCol="0">
            <a:spAutoFit/>
          </a:bodyPr>
          <a:lstStyle/>
          <a:p>
            <a:endParaRPr lang="en-IN" dirty="0"/>
          </a:p>
        </p:txBody>
      </p:sp>
      <p:sp>
        <p:nvSpPr>
          <p:cNvPr id="8" name="TextBox 7">
            <a:extLst>
              <a:ext uri="{FF2B5EF4-FFF2-40B4-BE49-F238E27FC236}">
                <a16:creationId xmlns:a16="http://schemas.microsoft.com/office/drawing/2014/main" id="{C1E73522-D3EB-1004-83DE-2C8751295F04}"/>
              </a:ext>
            </a:extLst>
          </p:cNvPr>
          <p:cNvSpPr txBox="1"/>
          <p:nvPr/>
        </p:nvSpPr>
        <p:spPr>
          <a:xfrm>
            <a:off x="3810000" y="710453"/>
            <a:ext cx="5116286" cy="584775"/>
          </a:xfrm>
          <a:prstGeom prst="rect">
            <a:avLst/>
          </a:prstGeom>
          <a:noFill/>
        </p:spPr>
        <p:txBody>
          <a:bodyPr wrap="square" rtlCol="0">
            <a:spAutoFit/>
          </a:bodyPr>
          <a:lstStyle/>
          <a:p>
            <a:pPr algn="ctr"/>
            <a:r>
              <a:rPr lang="en-IN" sz="3200" b="1" dirty="0">
                <a:solidFill>
                  <a:schemeClr val="accent2">
                    <a:lumMod val="50000"/>
                  </a:schemeClr>
                </a:solidFill>
                <a:latin typeface="Times New Roman" panose="02020603050405020304" pitchFamily="18" charset="0"/>
                <a:cs typeface="Times New Roman" panose="02020603050405020304" pitchFamily="18" charset="0"/>
              </a:rPr>
              <a:t>PROPOSED SYSTEM</a:t>
            </a:r>
          </a:p>
        </p:txBody>
      </p:sp>
      <p:sp>
        <p:nvSpPr>
          <p:cNvPr id="11" name="TextBox 10">
            <a:extLst>
              <a:ext uri="{FF2B5EF4-FFF2-40B4-BE49-F238E27FC236}">
                <a16:creationId xmlns:a16="http://schemas.microsoft.com/office/drawing/2014/main" id="{42ECCAAE-AA26-70E0-1799-749C8E0EEAF1}"/>
              </a:ext>
            </a:extLst>
          </p:cNvPr>
          <p:cNvSpPr txBox="1"/>
          <p:nvPr/>
        </p:nvSpPr>
        <p:spPr>
          <a:xfrm>
            <a:off x="1251857" y="1709057"/>
            <a:ext cx="10406743" cy="3228063"/>
          </a:xfrm>
          <a:prstGeom prst="rect">
            <a:avLst/>
          </a:prstGeom>
          <a:noFill/>
        </p:spPr>
        <p:txBody>
          <a:bodyPr wrap="square" rtlCol="0">
            <a:spAutoFit/>
          </a:bodyPr>
          <a:lstStyle/>
          <a:p>
            <a:endParaRPr lang="en-US" dirty="0"/>
          </a:p>
          <a:p>
            <a:pPr algn="just">
              <a:lnSpc>
                <a:spcPct val="150000"/>
              </a:lnSpc>
            </a:pPr>
            <a:r>
              <a:rPr lang="en-US" dirty="0">
                <a:latin typeface="Times New Roman" panose="02020603050405020304" pitchFamily="18" charset="0"/>
                <a:cs typeface="Times New Roman" panose="02020603050405020304" pitchFamily="18" charset="0"/>
              </a:rPr>
              <a:t>	The proposed network traffic analysis system includes network sensors, a centralized data repository, an analysis engine, a visualization and reporting interface, and an alerting system. It collects and processes data for real-time and historical analysis, featuring packet capture, flow analysis, deep packet inspection, anomaly detection, and performance monitoring. Utilizing tools like Wireshark, Zeek, Elasticsearch, and TensorFlow, the implementation plan ensures scalability, performance, security, and compliance. This system provides comprehensive monitoring, effective threat detection, and insightful reporting to enhance network security and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1733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F0EBD2-50A5-9E2A-E554-DF1BDEB7929F}"/>
              </a:ext>
            </a:extLst>
          </p:cNvPr>
          <p:cNvSpPr>
            <a:spLocks noGrp="1"/>
          </p:cNvSpPr>
          <p:nvPr>
            <p:ph type="sldNum" sz="quarter" idx="12"/>
          </p:nvPr>
        </p:nvSpPr>
        <p:spPr/>
        <p:txBody>
          <a:bodyPr/>
          <a:lstStyle/>
          <a:p>
            <a:fld id="{C12FC651-4061-4C6F-B8D9-317E90C46102}" type="slidenum">
              <a:rPr lang="en-IN" smtClean="0"/>
              <a:t>7</a:t>
            </a:fld>
            <a:endParaRPr lang="en-IN"/>
          </a:p>
        </p:txBody>
      </p:sp>
      <p:sp>
        <p:nvSpPr>
          <p:cNvPr id="3" name="Rectangle: Diagonal Corners Rounded 2">
            <a:extLst>
              <a:ext uri="{FF2B5EF4-FFF2-40B4-BE49-F238E27FC236}">
                <a16:creationId xmlns:a16="http://schemas.microsoft.com/office/drawing/2014/main" id="{3D8828AC-51A6-5FC1-44C3-613F50736176}"/>
              </a:ext>
            </a:extLst>
          </p:cNvPr>
          <p:cNvSpPr/>
          <p:nvPr/>
        </p:nvSpPr>
        <p:spPr>
          <a:xfrm>
            <a:off x="168726" y="181654"/>
            <a:ext cx="11854543" cy="6357258"/>
          </a:xfrm>
          <a:prstGeom prst="round2DiagRect">
            <a:avLst/>
          </a:prstGeom>
          <a:solidFill>
            <a:schemeClr val="bg2">
              <a:lumMod val="20000"/>
              <a:lumOff val="80000"/>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BA28B325-9A87-34B1-A202-EFD0D87EE336}"/>
              </a:ext>
            </a:extLst>
          </p:cNvPr>
          <p:cNvSpPr txBox="1"/>
          <p:nvPr/>
        </p:nvSpPr>
        <p:spPr>
          <a:xfrm>
            <a:off x="1523999" y="200364"/>
            <a:ext cx="8490857" cy="584775"/>
          </a:xfrm>
          <a:prstGeom prst="rect">
            <a:avLst/>
          </a:prstGeom>
          <a:noFill/>
        </p:spPr>
        <p:txBody>
          <a:bodyPr wrap="square" rtlCol="0">
            <a:spAutoFit/>
          </a:bodyPr>
          <a:lstStyle/>
          <a:p>
            <a:pPr algn="ctr"/>
            <a:r>
              <a:rPr lang="en-IN" sz="3200" b="1" dirty="0">
                <a:solidFill>
                  <a:schemeClr val="accent2">
                    <a:lumMod val="50000"/>
                  </a:schemeClr>
                </a:solidFill>
                <a:latin typeface="Times New Roman" panose="02020603050405020304" pitchFamily="18" charset="0"/>
                <a:cs typeface="Times New Roman" panose="02020603050405020304" pitchFamily="18" charset="0"/>
              </a:rPr>
              <a:t>ADVANTAGES </a:t>
            </a:r>
          </a:p>
        </p:txBody>
      </p:sp>
      <p:sp>
        <p:nvSpPr>
          <p:cNvPr id="5" name="TextBox 4">
            <a:extLst>
              <a:ext uri="{FF2B5EF4-FFF2-40B4-BE49-F238E27FC236}">
                <a16:creationId xmlns:a16="http://schemas.microsoft.com/office/drawing/2014/main" id="{77DF7705-8480-C50D-FE2A-818532046876}"/>
              </a:ext>
            </a:extLst>
          </p:cNvPr>
          <p:cNvSpPr txBox="1"/>
          <p:nvPr/>
        </p:nvSpPr>
        <p:spPr>
          <a:xfrm>
            <a:off x="168726" y="706973"/>
            <a:ext cx="11397343" cy="5444054"/>
          </a:xfrm>
          <a:prstGeom prst="rect">
            <a:avLst/>
          </a:prstGeom>
          <a:noFill/>
        </p:spPr>
        <p:txBody>
          <a:bodyPr wrap="square" rtlCol="0">
            <a:spAutoFit/>
          </a:bodyPr>
          <a:lstStyle/>
          <a:p>
            <a:pPr algn="just">
              <a:lnSpc>
                <a:spcPct val="150000"/>
              </a:lnSpc>
            </a:pPr>
            <a:endParaRPr lang="en-US" b="1" dirty="0"/>
          </a:p>
          <a:p>
            <a:pPr algn="just">
              <a:lnSpc>
                <a:spcPct val="150000"/>
              </a:lnSpc>
            </a:pPr>
            <a:r>
              <a:rPr lang="en-US" b="1" dirty="0"/>
              <a:t>1. </a:t>
            </a:r>
            <a:r>
              <a:rPr lang="en-US" b="1" dirty="0">
                <a:latin typeface="Times New Roman" panose="02020603050405020304" pitchFamily="18" charset="0"/>
                <a:cs typeface="Times New Roman" panose="02020603050405020304" pitchFamily="18" charset="0"/>
              </a:rPr>
              <a:t>High Accuracy in Protocol Classification</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   - Utilizing machine learning algorithms like Naïve Bayes, K-Nearest Neighbors, Decision Trees, and SVM can lead to accurate classification of network protocols, improving overall security and operational efficiency.</a:t>
            </a:r>
          </a:p>
          <a:p>
            <a:pPr algn="just">
              <a:lnSpc>
                <a:spcPct val="150000"/>
              </a:lnSpc>
            </a:pPr>
            <a:r>
              <a:rPr lang="en-US" b="1" dirty="0">
                <a:latin typeface="Times New Roman" panose="02020603050405020304" pitchFamily="18" charset="0"/>
                <a:cs typeface="Times New Roman" panose="02020603050405020304" pitchFamily="18" charset="0"/>
              </a:rPr>
              <a:t>2. Anomaly Detection:</a:t>
            </a:r>
          </a:p>
          <a:p>
            <a:pPr algn="just">
              <a:lnSpc>
                <a:spcPct val="150000"/>
              </a:lnSpc>
            </a:pPr>
            <a:r>
              <a:rPr lang="en-US" dirty="0">
                <a:latin typeface="Times New Roman" panose="02020603050405020304" pitchFamily="18" charset="0"/>
                <a:cs typeface="Times New Roman" panose="02020603050405020304" pitchFamily="18" charset="0"/>
              </a:rPr>
              <a:t>   - These algorithms excel in identifying anomalies and potential security threats within network traffic, such as unusual patterns or suspicious activities, enabling proactive security measures.</a:t>
            </a:r>
          </a:p>
          <a:p>
            <a:pPr algn="just">
              <a:lnSpc>
                <a:spcPct val="150000"/>
              </a:lnSpc>
            </a:pPr>
            <a:r>
              <a:rPr lang="en-US" b="1" dirty="0">
                <a:latin typeface="Times New Roman" panose="02020603050405020304" pitchFamily="18" charset="0"/>
                <a:cs typeface="Times New Roman" panose="02020603050405020304" pitchFamily="18" charset="0"/>
              </a:rPr>
              <a:t>3. Resource Optimization:</a:t>
            </a:r>
          </a:p>
          <a:p>
            <a:pPr algn="just">
              <a:lnSpc>
                <a:spcPct val="150000"/>
              </a:lnSpc>
            </a:pPr>
            <a:r>
              <a:rPr lang="en-US" dirty="0">
                <a:latin typeface="Times New Roman" panose="02020603050405020304" pitchFamily="18" charset="0"/>
                <a:cs typeface="Times New Roman" panose="02020603050405020304" pitchFamily="18" charset="0"/>
              </a:rPr>
              <a:t>   - Efficient traffic classification and analysis help in optimizing resource allocation, prioritizing critical applications, and enhancing overall network performance and efficiency.</a:t>
            </a:r>
          </a:p>
          <a:p>
            <a:pPr algn="just">
              <a:lnSpc>
                <a:spcPct val="150000"/>
              </a:lnSpc>
            </a:pPr>
            <a:r>
              <a:rPr lang="en-US" b="1" dirty="0">
                <a:latin typeface="Times New Roman" panose="02020603050405020304" pitchFamily="18" charset="0"/>
                <a:cs typeface="Times New Roman" panose="02020603050405020304" pitchFamily="18" charset="0"/>
              </a:rPr>
              <a:t>4. Real-Time Analysis and Monitoring:</a:t>
            </a:r>
          </a:p>
          <a:p>
            <a:pPr algn="just">
              <a:lnSpc>
                <a:spcPct val="150000"/>
              </a:lnSpc>
            </a:pPr>
            <a:r>
              <a:rPr lang="en-US" dirty="0">
                <a:latin typeface="Times New Roman" panose="02020603050405020304" pitchFamily="18" charset="0"/>
                <a:cs typeface="Times New Roman" panose="02020603050405020304" pitchFamily="18" charset="0"/>
              </a:rPr>
              <a:t>   - The system operates in real-time, continuously monitoring network traffic for immediate detection of issues, ensuring timely responses and mitigations.</a:t>
            </a:r>
          </a:p>
        </p:txBody>
      </p:sp>
      <p:sp>
        <p:nvSpPr>
          <p:cNvPr id="6" name="TextBox 5">
            <a:extLst>
              <a:ext uri="{FF2B5EF4-FFF2-40B4-BE49-F238E27FC236}">
                <a16:creationId xmlns:a16="http://schemas.microsoft.com/office/drawing/2014/main" id="{BAB000DF-BFE9-CD0E-D977-AAD5B6EBF70C}"/>
              </a:ext>
            </a:extLst>
          </p:cNvPr>
          <p:cNvSpPr txBox="1"/>
          <p:nvPr/>
        </p:nvSpPr>
        <p:spPr>
          <a:xfrm>
            <a:off x="758462" y="269003"/>
            <a:ext cx="216789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Continued..</a:t>
            </a:r>
          </a:p>
          <a:p>
            <a:endParaRPr lang="en-IN" dirty="0"/>
          </a:p>
        </p:txBody>
      </p:sp>
    </p:spTree>
    <p:extLst>
      <p:ext uri="{BB962C8B-B14F-4D97-AF65-F5344CB8AC3E}">
        <p14:creationId xmlns:p14="http://schemas.microsoft.com/office/powerpoint/2010/main" val="4060185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650FC5-70D8-0301-7339-1752D1A3C7DE}"/>
              </a:ext>
            </a:extLst>
          </p:cNvPr>
          <p:cNvSpPr>
            <a:spLocks noGrp="1"/>
          </p:cNvSpPr>
          <p:nvPr>
            <p:ph type="sldNum" sz="quarter" idx="12"/>
          </p:nvPr>
        </p:nvSpPr>
        <p:spPr/>
        <p:txBody>
          <a:bodyPr/>
          <a:lstStyle/>
          <a:p>
            <a:fld id="{C12FC651-4061-4C6F-B8D9-317E90C46102}" type="slidenum">
              <a:rPr lang="en-IN" smtClean="0"/>
              <a:t>8</a:t>
            </a:fld>
            <a:endParaRPr lang="en-IN"/>
          </a:p>
        </p:txBody>
      </p:sp>
      <p:sp>
        <p:nvSpPr>
          <p:cNvPr id="3" name="Frame 2">
            <a:extLst>
              <a:ext uri="{FF2B5EF4-FFF2-40B4-BE49-F238E27FC236}">
                <a16:creationId xmlns:a16="http://schemas.microsoft.com/office/drawing/2014/main" id="{C0D74DD3-01E8-C486-2EA8-BB2AD677E5A3}"/>
              </a:ext>
            </a:extLst>
          </p:cNvPr>
          <p:cNvSpPr/>
          <p:nvPr/>
        </p:nvSpPr>
        <p:spPr>
          <a:xfrm>
            <a:off x="0" y="-16784"/>
            <a:ext cx="12192000" cy="6874783"/>
          </a:xfrm>
          <a:prstGeom prst="frame">
            <a:avLst/>
          </a:prstGeom>
          <a:solidFill>
            <a:schemeClr val="bg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lumMod val="20000"/>
                  <a:lumOff val="80000"/>
                </a:schemeClr>
              </a:solidFill>
            </a:endParaRPr>
          </a:p>
        </p:txBody>
      </p:sp>
      <p:sp>
        <p:nvSpPr>
          <p:cNvPr id="4" name="TextBox 3">
            <a:extLst>
              <a:ext uri="{FF2B5EF4-FFF2-40B4-BE49-F238E27FC236}">
                <a16:creationId xmlns:a16="http://schemas.microsoft.com/office/drawing/2014/main" id="{5CB38DEC-B32D-575F-3E0C-7BD457752B97}"/>
              </a:ext>
            </a:extLst>
          </p:cNvPr>
          <p:cNvSpPr txBox="1"/>
          <p:nvPr/>
        </p:nvSpPr>
        <p:spPr>
          <a:xfrm>
            <a:off x="2775857" y="108857"/>
            <a:ext cx="6096000" cy="584775"/>
          </a:xfrm>
          <a:prstGeom prst="rect">
            <a:avLst/>
          </a:prstGeom>
          <a:noFill/>
        </p:spPr>
        <p:txBody>
          <a:bodyPr wrap="square" rtlCol="0">
            <a:spAutoFit/>
          </a:bodyPr>
          <a:lstStyle/>
          <a:p>
            <a:pPr algn="ctr"/>
            <a:r>
              <a:rPr lang="en-US" sz="3200" b="1" dirty="0">
                <a:solidFill>
                  <a:schemeClr val="accent2">
                    <a:lumMod val="50000"/>
                  </a:schemeClr>
                </a:solidFill>
                <a:latin typeface="Times New Roman" panose="02020603050405020304" pitchFamily="18" charset="0"/>
                <a:cs typeface="Times New Roman" panose="02020603050405020304" pitchFamily="18" charset="0"/>
              </a:rPr>
              <a:t>SYSTEM REQUIREMENTS</a:t>
            </a:r>
            <a:endParaRPr lang="en-IN" sz="32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8CA6E80-56C7-83C1-2F85-472E5E4E784E}"/>
              </a:ext>
            </a:extLst>
          </p:cNvPr>
          <p:cNvSpPr txBox="1"/>
          <p:nvPr/>
        </p:nvSpPr>
        <p:spPr>
          <a:xfrm>
            <a:off x="936171" y="1066799"/>
            <a:ext cx="10319658" cy="4197559"/>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Operating system : Windows 11.</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Coding language   : Python.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Version                   :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3.7.1.</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Libraries                 :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Tensorflow</a:t>
            </a:r>
            <a:r>
              <a:rPr lang="en-US" dirty="0">
                <a:latin typeface="Times New Roman" panose="02020603050405020304" pitchFamily="18" charset="0"/>
                <a:cs typeface="Times New Roman" panose="02020603050405020304" pitchFamily="18" charset="0"/>
              </a:rPr>
              <a:t>, Seaborn, Pandas, Scikit-learn, Open-CV.</a:t>
            </a:r>
          </a:p>
          <a:p>
            <a:pPr algn="just">
              <a:lnSpc>
                <a:spcPct val="150000"/>
              </a:lnSpc>
            </a:pPr>
            <a:r>
              <a:rPr lang="en-US" dirty="0">
                <a:latin typeface="Times New Roman" panose="02020603050405020304" pitchFamily="18" charset="0"/>
                <a:cs typeface="Times New Roman" panose="02020603050405020304" pitchFamily="18" charset="0"/>
              </a:rPr>
              <a:t> </a:t>
            </a:r>
          </a:p>
          <a:p>
            <a:pPr algn="just">
              <a:lnSpc>
                <a:spcPct val="150000"/>
              </a:lnSpc>
            </a:pPr>
            <a:r>
              <a:rPr lang="en-US" b="1" dirty="0">
                <a:latin typeface="Times New Roman" panose="02020603050405020304" pitchFamily="18" charset="0"/>
                <a:cs typeface="Times New Roman" panose="02020603050405020304" pitchFamily="18" charset="0"/>
              </a:rPr>
              <a:t>HARDWARE REQUIEMENTS: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 Intel Core i5 or equivalent.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Hard Disk                 : 500 GB.</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RAM                         : 16 GB.</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857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alpha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CE4952-A50E-EEA1-402A-AC350952D3C6}"/>
              </a:ext>
            </a:extLst>
          </p:cNvPr>
          <p:cNvSpPr>
            <a:spLocks noGrp="1"/>
          </p:cNvSpPr>
          <p:nvPr>
            <p:ph type="sldNum" sz="quarter" idx="12"/>
          </p:nvPr>
        </p:nvSpPr>
        <p:spPr/>
        <p:txBody>
          <a:bodyPr/>
          <a:lstStyle/>
          <a:p>
            <a:fld id="{C12FC651-4061-4C6F-B8D9-317E90C46102}" type="slidenum">
              <a:rPr lang="en-IN" smtClean="0"/>
              <a:t>9</a:t>
            </a:fld>
            <a:endParaRPr lang="en-IN"/>
          </a:p>
        </p:txBody>
      </p:sp>
      <p:sp>
        <p:nvSpPr>
          <p:cNvPr id="3" name="TextBox 2">
            <a:extLst>
              <a:ext uri="{FF2B5EF4-FFF2-40B4-BE49-F238E27FC236}">
                <a16:creationId xmlns:a16="http://schemas.microsoft.com/office/drawing/2014/main" id="{922E7667-AE8E-E323-FE7E-DB87B389BF1E}"/>
              </a:ext>
            </a:extLst>
          </p:cNvPr>
          <p:cNvSpPr txBox="1"/>
          <p:nvPr/>
        </p:nvSpPr>
        <p:spPr>
          <a:xfrm>
            <a:off x="2743200" y="241300"/>
            <a:ext cx="6324600" cy="584775"/>
          </a:xfrm>
          <a:prstGeom prst="rect">
            <a:avLst/>
          </a:prstGeom>
          <a:noFill/>
        </p:spPr>
        <p:txBody>
          <a:bodyPr wrap="square" rtlCol="0">
            <a:spAutoFit/>
          </a:bodyPr>
          <a:lstStyle/>
          <a:p>
            <a:pPr algn="ctr"/>
            <a:r>
              <a:rPr lang="en-IN" sz="3200" b="1" dirty="0">
                <a:solidFill>
                  <a:schemeClr val="accent1">
                    <a:lumMod val="50000"/>
                  </a:schemeClr>
                </a:solidFill>
                <a:latin typeface="Times New Roman" panose="02020603050405020304" pitchFamily="18" charset="0"/>
                <a:cs typeface="Times New Roman" panose="02020603050405020304" pitchFamily="18" charset="0"/>
              </a:rPr>
              <a:t>SYSTEM ARCHITECTURE</a:t>
            </a:r>
          </a:p>
        </p:txBody>
      </p:sp>
      <p:pic>
        <p:nvPicPr>
          <p:cNvPr id="5" name="image16.jpeg">
            <a:extLst>
              <a:ext uri="{FF2B5EF4-FFF2-40B4-BE49-F238E27FC236}">
                <a16:creationId xmlns:a16="http://schemas.microsoft.com/office/drawing/2014/main" id="{6DECBD0D-E1D3-5D74-66BF-947519035734}"/>
              </a:ext>
            </a:extLst>
          </p:cNvPr>
          <p:cNvPicPr>
            <a:picLocks noChangeAspect="1"/>
          </p:cNvPicPr>
          <p:nvPr/>
        </p:nvPicPr>
        <p:blipFill>
          <a:blip r:embed="rId2" cstate="print"/>
          <a:stretch>
            <a:fillRect/>
          </a:stretch>
        </p:blipFill>
        <p:spPr>
          <a:xfrm>
            <a:off x="3517900" y="933133"/>
            <a:ext cx="4953000" cy="5423217"/>
          </a:xfrm>
          <a:prstGeom prst="rect">
            <a:avLst/>
          </a:prstGeom>
        </p:spPr>
      </p:pic>
      <p:sp>
        <p:nvSpPr>
          <p:cNvPr id="6" name="TextBox 5">
            <a:extLst>
              <a:ext uri="{FF2B5EF4-FFF2-40B4-BE49-F238E27FC236}">
                <a16:creationId xmlns:a16="http://schemas.microsoft.com/office/drawing/2014/main" id="{E5DE0F5A-0653-4032-5C87-E10EC897A83A}"/>
              </a:ext>
            </a:extLst>
          </p:cNvPr>
          <p:cNvSpPr txBox="1"/>
          <p:nvPr/>
        </p:nvSpPr>
        <p:spPr>
          <a:xfrm>
            <a:off x="1752600" y="6356350"/>
            <a:ext cx="8229599" cy="1075679"/>
          </a:xfrm>
          <a:prstGeom prst="rect">
            <a:avLst/>
          </a:prstGeom>
          <a:noFill/>
        </p:spPr>
        <p:txBody>
          <a:bodyPr wrap="square" rtlCol="0">
            <a:spAutoFit/>
          </a:bodyPr>
          <a:lstStyle/>
          <a:p>
            <a:pPr marL="614045" marR="322580" algn="ctr">
              <a:lnSpc>
                <a:spcPct val="155000"/>
              </a:lnSpc>
              <a:spcBef>
                <a:spcPts val="220"/>
              </a:spcBef>
              <a:spcAft>
                <a:spcPts val="0"/>
              </a:spcAft>
            </a:pPr>
            <a:r>
              <a:rPr lang="en-US" sz="1800" dirty="0">
                <a:effectLst/>
                <a:latin typeface="Times New Roman" panose="02020603050405020304" pitchFamily="18" charset="0"/>
                <a:ea typeface="Times New Roman" panose="02020603050405020304" pitchFamily="18" charset="0"/>
              </a:rPr>
              <a:t>Fig.</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a:t>
            </a:r>
            <a:r>
              <a:rPr lang="en-US" spc="115" dirty="0">
                <a:latin typeface="Times New Roman" panose="02020603050405020304" pitchFamily="18" charset="0"/>
                <a:ea typeface="Times New Roman" panose="02020603050405020304" pitchFamily="18" charset="0"/>
              </a:rPr>
              <a:t>:</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process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classification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Traffic.</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05848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alpha val="36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846813-C75E-67B4-5BA0-40A1EE9DEC01}"/>
              </a:ext>
            </a:extLst>
          </p:cNvPr>
          <p:cNvSpPr>
            <a:spLocks noGrp="1"/>
          </p:cNvSpPr>
          <p:nvPr>
            <p:ph type="sldNum" sz="quarter" idx="12"/>
          </p:nvPr>
        </p:nvSpPr>
        <p:spPr/>
        <p:txBody>
          <a:bodyPr/>
          <a:lstStyle/>
          <a:p>
            <a:fld id="{C12FC651-4061-4C6F-B8D9-317E90C46102}" type="slidenum">
              <a:rPr lang="en-IN" smtClean="0"/>
              <a:t>10</a:t>
            </a:fld>
            <a:endParaRPr lang="en-IN"/>
          </a:p>
        </p:txBody>
      </p:sp>
      <p:sp>
        <p:nvSpPr>
          <p:cNvPr id="3" name="TextBox 2">
            <a:extLst>
              <a:ext uri="{FF2B5EF4-FFF2-40B4-BE49-F238E27FC236}">
                <a16:creationId xmlns:a16="http://schemas.microsoft.com/office/drawing/2014/main" id="{7C3EFBC1-011F-AD8B-D3B9-AFF3FF97AD05}"/>
              </a:ext>
            </a:extLst>
          </p:cNvPr>
          <p:cNvSpPr txBox="1"/>
          <p:nvPr/>
        </p:nvSpPr>
        <p:spPr>
          <a:xfrm>
            <a:off x="3126377" y="339634"/>
            <a:ext cx="6217920" cy="584775"/>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MODULES</a:t>
            </a:r>
          </a:p>
        </p:txBody>
      </p:sp>
      <p:sp>
        <p:nvSpPr>
          <p:cNvPr id="4" name="TextBox 3">
            <a:extLst>
              <a:ext uri="{FF2B5EF4-FFF2-40B4-BE49-F238E27FC236}">
                <a16:creationId xmlns:a16="http://schemas.microsoft.com/office/drawing/2014/main" id="{0EE47C0F-3E64-BD19-4818-78D6E638F13D}"/>
              </a:ext>
            </a:extLst>
          </p:cNvPr>
          <p:cNvSpPr txBox="1"/>
          <p:nvPr/>
        </p:nvSpPr>
        <p:spPr>
          <a:xfrm>
            <a:off x="1365069" y="1544472"/>
            <a:ext cx="10245634" cy="2215991"/>
          </a:xfrm>
          <a:prstGeom prst="rect">
            <a:avLst/>
          </a:prstGeom>
          <a:noFill/>
        </p:spPr>
        <p:txBody>
          <a:bodyPr wrap="square" rtlCol="0">
            <a:spAutoFit/>
          </a:bodyPr>
          <a:lstStyle/>
          <a:p>
            <a:pPr marL="342900" indent="-342900">
              <a:lnSpc>
                <a:spcPct val="150000"/>
              </a:lnSpc>
              <a:buAutoNum type="arabicPeriod"/>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Data Collection</a:t>
            </a:r>
            <a:endPar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nSpc>
                <a:spcPct val="150000"/>
              </a:lnSpc>
              <a:buFontTx/>
              <a:buAutoNum type="arabicPeriod"/>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Data Preprocessing</a:t>
            </a:r>
          </a:p>
          <a:p>
            <a:pPr marL="342900" indent="-342900">
              <a:lnSpc>
                <a:spcPct val="150000"/>
              </a:lnSpc>
              <a:buFontTx/>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Feature Engineering</a:t>
            </a:r>
            <a:endParaRPr lang="en-US" sz="2000" b="1" kern="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buFontTx/>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Machine Learning Models</a:t>
            </a:r>
            <a:endPar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AutoNum type="arabicPeriod"/>
            </a:pPr>
            <a:endParaRPr lang="en-IN" dirty="0"/>
          </a:p>
        </p:txBody>
      </p:sp>
    </p:spTree>
    <p:extLst>
      <p:ext uri="{BB962C8B-B14F-4D97-AF65-F5344CB8AC3E}">
        <p14:creationId xmlns:p14="http://schemas.microsoft.com/office/powerpoint/2010/main" val="1657279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1A920C-FC70-3BEA-363D-6CCA9A100516}"/>
              </a:ext>
            </a:extLst>
          </p:cNvPr>
          <p:cNvSpPr>
            <a:spLocks noGrp="1"/>
          </p:cNvSpPr>
          <p:nvPr>
            <p:ph type="sldNum" sz="quarter" idx="12"/>
          </p:nvPr>
        </p:nvSpPr>
        <p:spPr/>
        <p:txBody>
          <a:bodyPr/>
          <a:lstStyle/>
          <a:p>
            <a:fld id="{C12FC651-4061-4C6F-B8D9-317E90C46102}" type="slidenum">
              <a:rPr lang="en-IN" smtClean="0"/>
              <a:t>11</a:t>
            </a:fld>
            <a:endParaRPr lang="en-IN"/>
          </a:p>
        </p:txBody>
      </p:sp>
      <p:sp>
        <p:nvSpPr>
          <p:cNvPr id="3" name="TextBox 2">
            <a:extLst>
              <a:ext uri="{FF2B5EF4-FFF2-40B4-BE49-F238E27FC236}">
                <a16:creationId xmlns:a16="http://schemas.microsoft.com/office/drawing/2014/main" id="{151B6D69-46AA-576A-0157-67FFFBF31019}"/>
              </a:ext>
            </a:extLst>
          </p:cNvPr>
          <p:cNvSpPr txBox="1"/>
          <p:nvPr/>
        </p:nvSpPr>
        <p:spPr>
          <a:xfrm>
            <a:off x="0" y="0"/>
            <a:ext cx="1850571" cy="6901543"/>
          </a:xfrm>
          <a:prstGeom prst="rect">
            <a:avLst/>
          </a:prstGeom>
          <a:solidFill>
            <a:schemeClr val="bg2">
              <a:lumMod val="20000"/>
              <a:lumOff val="80000"/>
            </a:schemeClr>
          </a:solidFill>
        </p:spPr>
        <p:txBody>
          <a:bodyPr wrap="square" rtlCol="0">
            <a:spAutoFit/>
          </a:bodyPr>
          <a:lstStyle/>
          <a:p>
            <a:endParaRPr lang="en-IN" dirty="0"/>
          </a:p>
        </p:txBody>
      </p:sp>
      <p:pic>
        <p:nvPicPr>
          <p:cNvPr id="5" name="image19.jpeg">
            <a:extLst>
              <a:ext uri="{FF2B5EF4-FFF2-40B4-BE49-F238E27FC236}">
                <a16:creationId xmlns:a16="http://schemas.microsoft.com/office/drawing/2014/main" id="{9CE50CAD-99C3-C956-FA6D-5E7C27C79056}"/>
              </a:ext>
            </a:extLst>
          </p:cNvPr>
          <p:cNvPicPr>
            <a:picLocks noChangeAspect="1"/>
          </p:cNvPicPr>
          <p:nvPr/>
        </p:nvPicPr>
        <p:blipFill>
          <a:blip r:embed="rId2" cstate="print"/>
          <a:stretch>
            <a:fillRect/>
          </a:stretch>
        </p:blipFill>
        <p:spPr>
          <a:xfrm>
            <a:off x="4572002" y="1035228"/>
            <a:ext cx="3357245" cy="5076010"/>
          </a:xfrm>
          <a:prstGeom prst="rect">
            <a:avLst/>
          </a:prstGeom>
        </p:spPr>
      </p:pic>
      <p:sp>
        <p:nvSpPr>
          <p:cNvPr id="6" name="TextBox 5">
            <a:extLst>
              <a:ext uri="{FF2B5EF4-FFF2-40B4-BE49-F238E27FC236}">
                <a16:creationId xmlns:a16="http://schemas.microsoft.com/office/drawing/2014/main" id="{9B296207-8ADD-8D95-8716-1B1DCE42BFC7}"/>
              </a:ext>
            </a:extLst>
          </p:cNvPr>
          <p:cNvSpPr txBox="1"/>
          <p:nvPr/>
        </p:nvSpPr>
        <p:spPr>
          <a:xfrm>
            <a:off x="4985658" y="6003471"/>
            <a:ext cx="3211286" cy="369332"/>
          </a:xfrm>
          <a:prstGeom prst="rect">
            <a:avLst/>
          </a:prstGeom>
          <a:noFill/>
        </p:spPr>
        <p:txBody>
          <a:bodyPr wrap="square" rtlCol="0">
            <a:spAutoFit/>
          </a:bodyPr>
          <a:lstStyle/>
          <a:p>
            <a:pPr algn="ctr"/>
            <a:r>
              <a:rPr lang="en-US" dirty="0"/>
              <a:t>Fig: Use case Diagram</a:t>
            </a:r>
            <a:endParaRPr lang="en-IN" dirty="0"/>
          </a:p>
        </p:txBody>
      </p:sp>
      <p:sp>
        <p:nvSpPr>
          <p:cNvPr id="7" name="Flowchart: Connector 6">
            <a:extLst>
              <a:ext uri="{FF2B5EF4-FFF2-40B4-BE49-F238E27FC236}">
                <a16:creationId xmlns:a16="http://schemas.microsoft.com/office/drawing/2014/main" id="{B27BF8E1-FA55-7E2C-5DDE-B7A020BA461C}"/>
              </a:ext>
            </a:extLst>
          </p:cNvPr>
          <p:cNvSpPr/>
          <p:nvPr/>
        </p:nvSpPr>
        <p:spPr>
          <a:xfrm>
            <a:off x="1284514" y="3907968"/>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lowchart: Connector 7">
            <a:extLst>
              <a:ext uri="{FF2B5EF4-FFF2-40B4-BE49-F238E27FC236}">
                <a16:creationId xmlns:a16="http://schemas.microsoft.com/office/drawing/2014/main" id="{8820311C-9B71-93D1-0C69-C862D231F465}"/>
              </a:ext>
            </a:extLst>
          </p:cNvPr>
          <p:cNvSpPr/>
          <p:nvPr/>
        </p:nvSpPr>
        <p:spPr>
          <a:xfrm>
            <a:off x="1153886" y="-136071"/>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Connector 17">
            <a:extLst>
              <a:ext uri="{FF2B5EF4-FFF2-40B4-BE49-F238E27FC236}">
                <a16:creationId xmlns:a16="http://schemas.microsoft.com/office/drawing/2014/main" id="{5273151B-CFB1-AA85-B441-578469559833}"/>
              </a:ext>
            </a:extLst>
          </p:cNvPr>
          <p:cNvSpPr/>
          <p:nvPr/>
        </p:nvSpPr>
        <p:spPr>
          <a:xfrm>
            <a:off x="1219200" y="462642"/>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lowchart: Connector 18">
            <a:extLst>
              <a:ext uri="{FF2B5EF4-FFF2-40B4-BE49-F238E27FC236}">
                <a16:creationId xmlns:a16="http://schemas.microsoft.com/office/drawing/2014/main" id="{0746ABF8-C6A6-102D-88ED-B919FEB84D53}"/>
              </a:ext>
            </a:extLst>
          </p:cNvPr>
          <p:cNvSpPr/>
          <p:nvPr/>
        </p:nvSpPr>
        <p:spPr>
          <a:xfrm>
            <a:off x="1284514" y="1134835"/>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Connector 19">
            <a:extLst>
              <a:ext uri="{FF2B5EF4-FFF2-40B4-BE49-F238E27FC236}">
                <a16:creationId xmlns:a16="http://schemas.microsoft.com/office/drawing/2014/main" id="{06E5DBD9-50E0-B4A9-C48E-4E21A1DF7078}"/>
              </a:ext>
            </a:extLst>
          </p:cNvPr>
          <p:cNvSpPr/>
          <p:nvPr/>
        </p:nvSpPr>
        <p:spPr>
          <a:xfrm>
            <a:off x="1284514" y="1807027"/>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Connector 20">
            <a:extLst>
              <a:ext uri="{FF2B5EF4-FFF2-40B4-BE49-F238E27FC236}">
                <a16:creationId xmlns:a16="http://schemas.microsoft.com/office/drawing/2014/main" id="{771BB34B-3529-5BC3-6D01-C50FA6A188A2}"/>
              </a:ext>
            </a:extLst>
          </p:cNvPr>
          <p:cNvSpPr/>
          <p:nvPr/>
        </p:nvSpPr>
        <p:spPr>
          <a:xfrm>
            <a:off x="1284514" y="2487385"/>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Connector 21">
            <a:extLst>
              <a:ext uri="{FF2B5EF4-FFF2-40B4-BE49-F238E27FC236}">
                <a16:creationId xmlns:a16="http://schemas.microsoft.com/office/drawing/2014/main" id="{D62E1E19-D9A7-F833-F196-C68A2AA82231}"/>
              </a:ext>
            </a:extLst>
          </p:cNvPr>
          <p:cNvSpPr/>
          <p:nvPr/>
        </p:nvSpPr>
        <p:spPr>
          <a:xfrm>
            <a:off x="1306285" y="3208562"/>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lowchart: Connector 22">
            <a:extLst>
              <a:ext uri="{FF2B5EF4-FFF2-40B4-BE49-F238E27FC236}">
                <a16:creationId xmlns:a16="http://schemas.microsoft.com/office/drawing/2014/main" id="{A06D4E77-E08D-8F80-6854-08C0B805DA0C}"/>
              </a:ext>
            </a:extLst>
          </p:cNvPr>
          <p:cNvSpPr/>
          <p:nvPr/>
        </p:nvSpPr>
        <p:spPr>
          <a:xfrm>
            <a:off x="1306285" y="4571993"/>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lowchart: Connector 23">
            <a:extLst>
              <a:ext uri="{FF2B5EF4-FFF2-40B4-BE49-F238E27FC236}">
                <a16:creationId xmlns:a16="http://schemas.microsoft.com/office/drawing/2014/main" id="{9351DFEB-559F-6CEF-D952-AE4E505CCE73}"/>
              </a:ext>
            </a:extLst>
          </p:cNvPr>
          <p:cNvSpPr/>
          <p:nvPr/>
        </p:nvSpPr>
        <p:spPr>
          <a:xfrm>
            <a:off x="1284514" y="5246907"/>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lowchart: Connector 24">
            <a:extLst>
              <a:ext uri="{FF2B5EF4-FFF2-40B4-BE49-F238E27FC236}">
                <a16:creationId xmlns:a16="http://schemas.microsoft.com/office/drawing/2014/main" id="{AF8B33D4-9703-7976-CFAD-39627675ABD9}"/>
              </a:ext>
            </a:extLst>
          </p:cNvPr>
          <p:cNvSpPr/>
          <p:nvPr/>
        </p:nvSpPr>
        <p:spPr>
          <a:xfrm>
            <a:off x="1306285" y="5976250"/>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Connector 25">
            <a:extLst>
              <a:ext uri="{FF2B5EF4-FFF2-40B4-BE49-F238E27FC236}">
                <a16:creationId xmlns:a16="http://schemas.microsoft.com/office/drawing/2014/main" id="{17CDC2D9-C1B2-C533-910E-6A3155CE1EBC}"/>
              </a:ext>
            </a:extLst>
          </p:cNvPr>
          <p:cNvSpPr/>
          <p:nvPr/>
        </p:nvSpPr>
        <p:spPr>
          <a:xfrm>
            <a:off x="1328056" y="6538912"/>
            <a:ext cx="849086" cy="729343"/>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A66CEE0-A5A8-124F-B01E-C80EED1BCCC9}"/>
              </a:ext>
            </a:extLst>
          </p:cNvPr>
          <p:cNvSpPr txBox="1"/>
          <p:nvPr/>
        </p:nvSpPr>
        <p:spPr>
          <a:xfrm>
            <a:off x="4822371" y="272687"/>
            <a:ext cx="3788229"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075988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alpha val="22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4C2078-6D7E-EEEE-8DA2-13A88A1966AD}"/>
              </a:ext>
            </a:extLst>
          </p:cNvPr>
          <p:cNvSpPr>
            <a:spLocks noGrp="1"/>
          </p:cNvSpPr>
          <p:nvPr>
            <p:ph type="sldNum" sz="quarter" idx="12"/>
          </p:nvPr>
        </p:nvSpPr>
        <p:spPr/>
        <p:txBody>
          <a:bodyPr/>
          <a:lstStyle/>
          <a:p>
            <a:fld id="{C12FC651-4061-4C6F-B8D9-317E90C46102}" type="slidenum">
              <a:rPr lang="en-IN" smtClean="0"/>
              <a:t>12</a:t>
            </a:fld>
            <a:endParaRPr lang="en-IN"/>
          </a:p>
        </p:txBody>
      </p:sp>
      <p:pic>
        <p:nvPicPr>
          <p:cNvPr id="5" name="image20.jpeg">
            <a:extLst>
              <a:ext uri="{FF2B5EF4-FFF2-40B4-BE49-F238E27FC236}">
                <a16:creationId xmlns:a16="http://schemas.microsoft.com/office/drawing/2014/main" id="{5F0E22CF-B5B9-312E-B9DD-6D3B556DA974}"/>
              </a:ext>
            </a:extLst>
          </p:cNvPr>
          <p:cNvPicPr>
            <a:picLocks noChangeAspect="1"/>
          </p:cNvPicPr>
          <p:nvPr/>
        </p:nvPicPr>
        <p:blipFill>
          <a:blip r:embed="rId2" cstate="print"/>
          <a:stretch>
            <a:fillRect/>
          </a:stretch>
        </p:blipFill>
        <p:spPr>
          <a:xfrm>
            <a:off x="3335089" y="274319"/>
            <a:ext cx="5034143" cy="5440817"/>
          </a:xfrm>
          <a:prstGeom prst="rect">
            <a:avLst/>
          </a:prstGeom>
        </p:spPr>
      </p:pic>
      <p:sp>
        <p:nvSpPr>
          <p:cNvPr id="6" name="TextBox 5">
            <a:extLst>
              <a:ext uri="{FF2B5EF4-FFF2-40B4-BE49-F238E27FC236}">
                <a16:creationId xmlns:a16="http://schemas.microsoft.com/office/drawing/2014/main" id="{B015AAE5-40DF-AEEB-1557-7F4F240B143B}"/>
              </a:ext>
            </a:extLst>
          </p:cNvPr>
          <p:cNvSpPr txBox="1"/>
          <p:nvPr/>
        </p:nvSpPr>
        <p:spPr>
          <a:xfrm>
            <a:off x="3646716" y="6055906"/>
            <a:ext cx="4219303"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 Sequence Diagram</a:t>
            </a:r>
          </a:p>
        </p:txBody>
      </p:sp>
    </p:spTree>
    <p:extLst>
      <p:ext uri="{BB962C8B-B14F-4D97-AF65-F5344CB8AC3E}">
        <p14:creationId xmlns:p14="http://schemas.microsoft.com/office/powerpoint/2010/main" val="299143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6E312D-471F-D65A-C3D5-A66E40A00DD7}"/>
              </a:ext>
            </a:extLst>
          </p:cNvPr>
          <p:cNvSpPr>
            <a:spLocks noGrp="1"/>
          </p:cNvSpPr>
          <p:nvPr>
            <p:ph type="sldNum" sz="quarter" idx="12"/>
          </p:nvPr>
        </p:nvSpPr>
        <p:spPr/>
        <p:txBody>
          <a:bodyPr/>
          <a:lstStyle/>
          <a:p>
            <a:fld id="{C12FC651-4061-4C6F-B8D9-317E90C46102}" type="slidenum">
              <a:rPr lang="en-IN" smtClean="0"/>
              <a:t>13</a:t>
            </a:fld>
            <a:endParaRPr lang="en-IN"/>
          </a:p>
        </p:txBody>
      </p:sp>
      <p:sp>
        <p:nvSpPr>
          <p:cNvPr id="7" name="TextBox 6">
            <a:extLst>
              <a:ext uri="{FF2B5EF4-FFF2-40B4-BE49-F238E27FC236}">
                <a16:creationId xmlns:a16="http://schemas.microsoft.com/office/drawing/2014/main" id="{E992DC13-2C93-7CF5-5D3B-6453C6140E51}"/>
              </a:ext>
            </a:extLst>
          </p:cNvPr>
          <p:cNvSpPr txBox="1"/>
          <p:nvPr/>
        </p:nvSpPr>
        <p:spPr>
          <a:xfrm>
            <a:off x="3396343" y="5758543"/>
            <a:ext cx="5214257" cy="369332"/>
          </a:xfrm>
          <a:prstGeom prst="rect">
            <a:avLst/>
          </a:prstGeom>
          <a:noFill/>
        </p:spPr>
        <p:txBody>
          <a:bodyPr wrap="square" rtlCol="0">
            <a:spAutoFit/>
          </a:bodyPr>
          <a:lstStyle/>
          <a:p>
            <a:pPr algn="ctr"/>
            <a:r>
              <a:rPr lang="en-US" dirty="0"/>
              <a:t>Fig: Activity Diagram</a:t>
            </a:r>
            <a:endParaRPr lang="en-IN" dirty="0"/>
          </a:p>
        </p:txBody>
      </p:sp>
      <p:sp>
        <p:nvSpPr>
          <p:cNvPr id="14" name="TextBox 13">
            <a:extLst>
              <a:ext uri="{FF2B5EF4-FFF2-40B4-BE49-F238E27FC236}">
                <a16:creationId xmlns:a16="http://schemas.microsoft.com/office/drawing/2014/main" id="{B1534616-7B5C-0376-59E4-C5BB9683F247}"/>
              </a:ext>
            </a:extLst>
          </p:cNvPr>
          <p:cNvSpPr txBox="1"/>
          <p:nvPr/>
        </p:nvSpPr>
        <p:spPr>
          <a:xfrm>
            <a:off x="0" y="0"/>
            <a:ext cx="1741714" cy="6955971"/>
          </a:xfrm>
          <a:prstGeom prst="rect">
            <a:avLst/>
          </a:prstGeom>
          <a:solidFill>
            <a:schemeClr val="bg2">
              <a:lumMod val="20000"/>
              <a:lumOff val="80000"/>
            </a:schemeClr>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012CFA5F-93FB-F8D7-534E-4A6E1BAA3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549140" y="468630"/>
            <a:ext cx="2697480" cy="5061437"/>
          </a:xfrm>
          <a:prstGeom prst="rect">
            <a:avLst/>
          </a:prstGeom>
          <a:noFill/>
        </p:spPr>
      </p:pic>
    </p:spTree>
    <p:extLst>
      <p:ext uri="{BB962C8B-B14F-4D97-AF65-F5344CB8AC3E}">
        <p14:creationId xmlns:p14="http://schemas.microsoft.com/office/powerpoint/2010/main" val="3531394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AE8375-E605-2AB9-7818-83D92F34A68E}"/>
              </a:ext>
            </a:extLst>
          </p:cNvPr>
          <p:cNvSpPr>
            <a:spLocks noGrp="1"/>
          </p:cNvSpPr>
          <p:nvPr>
            <p:ph type="sldNum" sz="quarter" idx="12"/>
          </p:nvPr>
        </p:nvSpPr>
        <p:spPr/>
        <p:txBody>
          <a:bodyPr/>
          <a:lstStyle/>
          <a:p>
            <a:fld id="{C12FC651-4061-4C6F-B8D9-317E90C46102}" type="slidenum">
              <a:rPr lang="en-IN" smtClean="0"/>
              <a:t>14</a:t>
            </a:fld>
            <a:endParaRPr lang="en-IN"/>
          </a:p>
        </p:txBody>
      </p:sp>
      <p:pic>
        <p:nvPicPr>
          <p:cNvPr id="4" name="Picture 3">
            <a:extLst>
              <a:ext uri="{FF2B5EF4-FFF2-40B4-BE49-F238E27FC236}">
                <a16:creationId xmlns:a16="http://schemas.microsoft.com/office/drawing/2014/main" id="{2745CAF9-C42C-F2FB-D8BF-86C9615038B2}"/>
              </a:ext>
            </a:extLst>
          </p:cNvPr>
          <p:cNvPicPr>
            <a:picLocks noChangeAspect="1"/>
          </p:cNvPicPr>
          <p:nvPr/>
        </p:nvPicPr>
        <p:blipFill>
          <a:blip r:embed="rId2"/>
          <a:stretch>
            <a:fillRect/>
          </a:stretch>
        </p:blipFill>
        <p:spPr>
          <a:xfrm>
            <a:off x="1981200" y="1209617"/>
            <a:ext cx="8382000" cy="5102794"/>
          </a:xfrm>
          <a:prstGeom prst="rect">
            <a:avLst/>
          </a:prstGeom>
        </p:spPr>
      </p:pic>
      <p:sp>
        <p:nvSpPr>
          <p:cNvPr id="5" name="TextBox 4">
            <a:extLst>
              <a:ext uri="{FF2B5EF4-FFF2-40B4-BE49-F238E27FC236}">
                <a16:creationId xmlns:a16="http://schemas.microsoft.com/office/drawing/2014/main" id="{0DB0D253-3C9C-4BF9-4B56-02C7C36EFA47}"/>
              </a:ext>
            </a:extLst>
          </p:cNvPr>
          <p:cNvSpPr txBox="1"/>
          <p:nvPr/>
        </p:nvSpPr>
        <p:spPr>
          <a:xfrm>
            <a:off x="3668485" y="253201"/>
            <a:ext cx="4027715" cy="584775"/>
          </a:xfrm>
          <a:prstGeom prst="rect">
            <a:avLst/>
          </a:prstGeom>
          <a:noFill/>
        </p:spPr>
        <p:txBody>
          <a:bodyPr wrap="square" rtlCol="0">
            <a:spAutoFit/>
          </a:bodyPr>
          <a:lstStyle/>
          <a:p>
            <a:pPr algn="ctr"/>
            <a:r>
              <a:rPr lang="en-US" sz="3200" b="1" dirty="0">
                <a:solidFill>
                  <a:schemeClr val="accent2">
                    <a:lumMod val="50000"/>
                  </a:schemeClr>
                </a:solidFill>
                <a:latin typeface="Times New Roman" panose="02020603050405020304" pitchFamily="18" charset="0"/>
                <a:cs typeface="Times New Roman" panose="02020603050405020304" pitchFamily="18" charset="0"/>
              </a:rPr>
              <a:t>OUTPUT SCREEN</a:t>
            </a:r>
            <a:endParaRPr lang="en-IN" sz="3200" b="1" dirty="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257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458998-9B98-D1DA-33F9-7A0B83F17E92}"/>
              </a:ext>
            </a:extLst>
          </p:cNvPr>
          <p:cNvSpPr>
            <a:spLocks noGrp="1"/>
          </p:cNvSpPr>
          <p:nvPr>
            <p:ph type="sldNum" sz="quarter" idx="12"/>
          </p:nvPr>
        </p:nvSpPr>
        <p:spPr/>
        <p:txBody>
          <a:bodyPr/>
          <a:lstStyle/>
          <a:p>
            <a:fld id="{C12FC651-4061-4C6F-B8D9-317E90C46102}" type="slidenum">
              <a:rPr lang="en-IN" smtClean="0"/>
              <a:t>15</a:t>
            </a:fld>
            <a:endParaRPr lang="en-IN"/>
          </a:p>
        </p:txBody>
      </p:sp>
      <p:sp>
        <p:nvSpPr>
          <p:cNvPr id="3" name="TextBox 2">
            <a:extLst>
              <a:ext uri="{FF2B5EF4-FFF2-40B4-BE49-F238E27FC236}">
                <a16:creationId xmlns:a16="http://schemas.microsoft.com/office/drawing/2014/main" id="{6053AD24-BC69-628D-D6C4-2A73700B165E}"/>
              </a:ext>
            </a:extLst>
          </p:cNvPr>
          <p:cNvSpPr txBox="1"/>
          <p:nvPr/>
        </p:nvSpPr>
        <p:spPr>
          <a:xfrm rot="5400000">
            <a:off x="-1583871" y="1583871"/>
            <a:ext cx="3635828" cy="468086"/>
          </a:xfrm>
          <a:prstGeom prst="rect">
            <a:avLst/>
          </a:prstGeom>
          <a:solidFill>
            <a:schemeClr val="bg2">
              <a:lumMod val="20000"/>
              <a:lumOff val="80000"/>
            </a:schemeClr>
          </a:solidFill>
        </p:spPr>
        <p:txBody>
          <a:bodyPr wrap="square" rtlCol="0">
            <a:spAutoFit/>
          </a:bodyPr>
          <a:lstStyle/>
          <a:p>
            <a:endParaRPr lang="en-IN" dirty="0"/>
          </a:p>
        </p:txBody>
      </p:sp>
      <p:sp>
        <p:nvSpPr>
          <p:cNvPr id="4" name="TextBox 3">
            <a:extLst>
              <a:ext uri="{FF2B5EF4-FFF2-40B4-BE49-F238E27FC236}">
                <a16:creationId xmlns:a16="http://schemas.microsoft.com/office/drawing/2014/main" id="{4CC6DCE6-B96F-3C09-6F1F-E5ABE7E498F6}"/>
              </a:ext>
            </a:extLst>
          </p:cNvPr>
          <p:cNvSpPr txBox="1"/>
          <p:nvPr/>
        </p:nvSpPr>
        <p:spPr>
          <a:xfrm>
            <a:off x="468087" y="0"/>
            <a:ext cx="11723913" cy="838200"/>
          </a:xfrm>
          <a:prstGeom prst="rect">
            <a:avLst/>
          </a:prstGeom>
          <a:solidFill>
            <a:schemeClr val="bg2">
              <a:lumMod val="20000"/>
              <a:lumOff val="80000"/>
            </a:schemeClr>
          </a:solidFill>
        </p:spPr>
        <p:txBody>
          <a:bodyPr wrap="square" rtlCol="0">
            <a:spAutoFit/>
          </a:bodyPr>
          <a:lstStyle/>
          <a:p>
            <a:endParaRPr lang="en-IN" dirty="0"/>
          </a:p>
        </p:txBody>
      </p:sp>
      <p:sp>
        <p:nvSpPr>
          <p:cNvPr id="6" name="TextBox 5">
            <a:extLst>
              <a:ext uri="{FF2B5EF4-FFF2-40B4-BE49-F238E27FC236}">
                <a16:creationId xmlns:a16="http://schemas.microsoft.com/office/drawing/2014/main" id="{62FEFC79-CAAD-AC35-0FE9-00F495AC90EC}"/>
              </a:ext>
            </a:extLst>
          </p:cNvPr>
          <p:cNvSpPr txBox="1"/>
          <p:nvPr/>
        </p:nvSpPr>
        <p:spPr>
          <a:xfrm rot="5400000">
            <a:off x="10080170" y="2481943"/>
            <a:ext cx="3755574" cy="468087"/>
          </a:xfrm>
          <a:prstGeom prst="rect">
            <a:avLst/>
          </a:prstGeom>
          <a:solidFill>
            <a:schemeClr val="bg2">
              <a:lumMod val="20000"/>
              <a:lumOff val="80000"/>
            </a:schemeClr>
          </a:solidFill>
        </p:spPr>
        <p:txBody>
          <a:bodyPr wrap="square" rtlCol="0">
            <a:spAutoFit/>
          </a:bodyPr>
          <a:lstStyle/>
          <a:p>
            <a:endParaRPr lang="en-IN" sz="1600" dirty="0"/>
          </a:p>
        </p:txBody>
      </p:sp>
      <p:sp>
        <p:nvSpPr>
          <p:cNvPr id="9" name="TextBox 8">
            <a:extLst>
              <a:ext uri="{FF2B5EF4-FFF2-40B4-BE49-F238E27FC236}">
                <a16:creationId xmlns:a16="http://schemas.microsoft.com/office/drawing/2014/main" id="{4ADDC80C-E709-DDE6-6786-83205FACE24F}"/>
              </a:ext>
            </a:extLst>
          </p:cNvPr>
          <p:cNvSpPr txBox="1"/>
          <p:nvPr/>
        </p:nvSpPr>
        <p:spPr>
          <a:xfrm>
            <a:off x="4572000" y="126712"/>
            <a:ext cx="3303270" cy="584775"/>
          </a:xfrm>
          <a:prstGeom prst="rect">
            <a:avLst/>
          </a:prstGeom>
          <a:noFill/>
        </p:spPr>
        <p:txBody>
          <a:bodyPr wrap="square" rtlCol="0">
            <a:spAutoFit/>
          </a:bodyPr>
          <a:lstStyle/>
          <a:p>
            <a:pPr algn="ctr"/>
            <a:r>
              <a:rPr lang="en-IN" sz="3200" b="1" dirty="0">
                <a:solidFill>
                  <a:schemeClr val="accent2">
                    <a:lumMod val="50000"/>
                  </a:schemeClr>
                </a:solidFill>
                <a:latin typeface="Times New Roman" panose="02020603050405020304" pitchFamily="18" charset="0"/>
                <a:cs typeface="Times New Roman" panose="02020603050405020304" pitchFamily="18" charset="0"/>
              </a:rPr>
              <a:t>CONCLUSION</a:t>
            </a:r>
          </a:p>
        </p:txBody>
      </p:sp>
      <p:sp>
        <p:nvSpPr>
          <p:cNvPr id="10" name="TextBox 9">
            <a:extLst>
              <a:ext uri="{FF2B5EF4-FFF2-40B4-BE49-F238E27FC236}">
                <a16:creationId xmlns:a16="http://schemas.microsoft.com/office/drawing/2014/main" id="{8FA8EA63-7BE8-3AEF-EAD0-52946F2FF961}"/>
              </a:ext>
            </a:extLst>
          </p:cNvPr>
          <p:cNvSpPr txBox="1"/>
          <p:nvPr/>
        </p:nvSpPr>
        <p:spPr>
          <a:xfrm>
            <a:off x="914400" y="1114259"/>
            <a:ext cx="10363200" cy="4116320"/>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The Network traffic classification techniques are discussed in this paper to enhance some idea about Machine Learning algorithms for network traffic data. The analysis carried out definitely helps to a new analyst to make the decision about which Machine Learning algorithm is more appropriate for this application. Further, the classifiers using different Machine Learning algorithms are developed to compare the accuracy for this network traffic data. We find that K-nearest neighbor (KNN) algorithm outperforms Naïve Bayes algorithm, Decision Tree and Support Vector Techniques in terms of accuracy which is due to the fact that KNN uses better classification criterion than Naïve Bayes and Decision Tree Algorithm. We find that KNN is most robust among the algorithms: NB, DT, and SVM for out training data set. It is also able to maintain highest mean for accuracy.</a:t>
            </a:r>
          </a:p>
          <a:p>
            <a:pPr>
              <a:lnSpc>
                <a:spcPct val="150000"/>
              </a:lnSpc>
            </a:pPr>
            <a:r>
              <a:rPr lang="en-US" sz="1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34746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BD50C5-F346-D5D4-1F2B-2F4B34580CD6}"/>
              </a:ext>
            </a:extLst>
          </p:cNvPr>
          <p:cNvSpPr>
            <a:spLocks noGrp="1"/>
          </p:cNvSpPr>
          <p:nvPr>
            <p:ph type="sldNum" sz="quarter" idx="12"/>
          </p:nvPr>
        </p:nvSpPr>
        <p:spPr/>
        <p:txBody>
          <a:bodyPr/>
          <a:lstStyle/>
          <a:p>
            <a:fld id="{C12FC651-4061-4C6F-B8D9-317E90C46102}" type="slidenum">
              <a:rPr lang="en-IN" smtClean="0"/>
              <a:t>16</a:t>
            </a:fld>
            <a:endParaRPr lang="en-IN"/>
          </a:p>
        </p:txBody>
      </p:sp>
      <p:sp>
        <p:nvSpPr>
          <p:cNvPr id="5" name="Half Frame 4">
            <a:extLst>
              <a:ext uri="{FF2B5EF4-FFF2-40B4-BE49-F238E27FC236}">
                <a16:creationId xmlns:a16="http://schemas.microsoft.com/office/drawing/2014/main" id="{2D79573E-77DB-52DE-9056-92C8CF826BEE}"/>
              </a:ext>
            </a:extLst>
          </p:cNvPr>
          <p:cNvSpPr/>
          <p:nvPr/>
        </p:nvSpPr>
        <p:spPr>
          <a:xfrm>
            <a:off x="0" y="0"/>
            <a:ext cx="5203371" cy="3657600"/>
          </a:xfrm>
          <a:prstGeom prst="halfFrame">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6" name="Picture 5">
            <a:extLst>
              <a:ext uri="{FF2B5EF4-FFF2-40B4-BE49-F238E27FC236}">
                <a16:creationId xmlns:a16="http://schemas.microsoft.com/office/drawing/2014/main" id="{F9D02B91-A393-5EB8-8A09-DC0A3A49DA3F}"/>
              </a:ext>
            </a:extLst>
          </p:cNvPr>
          <p:cNvPicPr>
            <a:picLocks noChangeAspect="1"/>
          </p:cNvPicPr>
          <p:nvPr/>
        </p:nvPicPr>
        <p:blipFill>
          <a:blip r:embed="rId2"/>
          <a:stretch>
            <a:fillRect/>
          </a:stretch>
        </p:blipFill>
        <p:spPr>
          <a:xfrm rot="10800000">
            <a:off x="7074182" y="3200083"/>
            <a:ext cx="5206435" cy="3657917"/>
          </a:xfrm>
          <a:prstGeom prst="rect">
            <a:avLst/>
          </a:prstGeom>
        </p:spPr>
      </p:pic>
      <p:sp>
        <p:nvSpPr>
          <p:cNvPr id="7" name="TextBox 6">
            <a:extLst>
              <a:ext uri="{FF2B5EF4-FFF2-40B4-BE49-F238E27FC236}">
                <a16:creationId xmlns:a16="http://schemas.microsoft.com/office/drawing/2014/main" id="{6D27236F-8038-69A0-C3BB-9D9F30D580A0}"/>
              </a:ext>
            </a:extLst>
          </p:cNvPr>
          <p:cNvSpPr txBox="1"/>
          <p:nvPr/>
        </p:nvSpPr>
        <p:spPr>
          <a:xfrm>
            <a:off x="3487339" y="2538363"/>
            <a:ext cx="6716486" cy="1323439"/>
          </a:xfrm>
          <a:prstGeom prst="rect">
            <a:avLst/>
          </a:prstGeom>
          <a:noFill/>
        </p:spPr>
        <p:txBody>
          <a:bodyPr wrap="square" rtlCol="0">
            <a:spAutoFit/>
          </a:bodyPr>
          <a:lstStyle/>
          <a:p>
            <a:pPr algn="ctr"/>
            <a:r>
              <a:rPr lang="en-IN" sz="8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136188927"/>
      </p:ext>
    </p:extLst>
  </p:cSld>
  <p:clrMapOvr>
    <a:masterClrMapping/>
  </p:clrMapOvr>
</p:sld>
</file>

<file path=ppt/theme/theme1.xml><?xml version="1.0" encoding="utf-8"?>
<a:theme xmlns:a="http://schemas.openxmlformats.org/drawingml/2006/main" name="Office Theme">
  <a:themeElements>
    <a:clrScheme name="Custom 1">
      <a:dk1>
        <a:srgbClr val="000000"/>
      </a:dk1>
      <a:lt1>
        <a:sysClr val="window" lastClr="FFFFFF"/>
      </a:lt1>
      <a:dk2>
        <a:srgbClr val="637052"/>
      </a:dk2>
      <a:lt2>
        <a:srgbClr val="7EC1EE"/>
      </a:lt2>
      <a:accent1>
        <a:srgbClr val="E48312"/>
      </a:accent1>
      <a:accent2>
        <a:srgbClr val="BD582C"/>
      </a:accent2>
      <a:accent3>
        <a:srgbClr val="865640"/>
      </a:accent3>
      <a:accent4>
        <a:srgbClr val="9B8357"/>
      </a:accent4>
      <a:accent5>
        <a:srgbClr val="C2BC80"/>
      </a:accent5>
      <a:accent6>
        <a:srgbClr val="94A088"/>
      </a:accent6>
      <a:hlink>
        <a:srgbClr val="A9D5F3"/>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1017</TotalTime>
  <Words>827</Words>
  <Application>Microsoft Office PowerPoint</Application>
  <PresentationFormat>Widescreen</PresentationFormat>
  <Paragraphs>86</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Rounded MT Bold</vt:lpstr>
      <vt:lpstr>Calibri</vt:lpstr>
      <vt:lpstr>Calibri Light</vt:lpstr>
      <vt:lpstr>Times New Roman</vt:lpstr>
      <vt:lpstr>Wingdings</vt:lpstr>
      <vt:lpstr>Office Theme</vt:lpstr>
      <vt:lpstr>NETWORK TRAFFIC ANALYSIS USING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vijayasri junnu</dc:creator>
  <cp:lastModifiedBy>VijayaSri Junnu</cp:lastModifiedBy>
  <cp:revision>27</cp:revision>
  <dcterms:created xsi:type="dcterms:W3CDTF">2024-07-07T11:24:22Z</dcterms:created>
  <dcterms:modified xsi:type="dcterms:W3CDTF">2025-06-09T06:47:23Z</dcterms:modified>
</cp:coreProperties>
</file>